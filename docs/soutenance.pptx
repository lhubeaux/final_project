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1390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 pas lire la phrase tout de suite : la laisser à l’écran pendant qu’on se présente. On y reviendra à la toute fin, réécrite.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15 au maximum. Terminer sur le lien avec le sujet : c’est la transition naturelle vers « pourquoi ce projet ».</a:t>
            </a:r>
          </a:p>
          <a:p>
            <a:r>
              <a:t>Les cadres pointillés sont à remplacer par ton propre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Résultat réel de l’analyseur sur ce paragraphe. Faire lire la phrase en silence au jury : on perd le fil vers « pièces justificatives ».</a:t>
            </a:r>
          </a:p>
          <a:p>
            <a:r>
              <a:t>Les défauts sont connus et récurrents — phrases trop longues, passifs qui cachent qui décide, noms à la place des verbes, jargon. Donc repérables automatiquement.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Répond à « Quel est votre sujet ? » et « Pourquoi cette idée ? ». Le référentiel est l’argument le plus solide : aucun critère n’est arbitraire, chaque signalement renvoie à un principe numéroté.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à faire valoir : l’outil ne prétend pas tout vérifier. Cinq principes relèvent du jugement humain — réfléchir, penser au lecteur, structurer, être concret, relire. L’outil couvre ceux qui laissent une trace mesurable dans le texte.</a:t>
            </a:r>
          </a:p>
          <a:p>
            <a:r>
              <a:t>Chaque signalement de l’application affiche son principe : « P8 — préciser qui fait quoi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Répond à « À qui est-ce destiné ? » et « Quel est l’objectif principal ? ». L’absence de score est une décision assumée, pas un manque : la défendre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Séparer honnêtement ce qui marche de ce qui est prévu. Gel des fonctionnalités le 24 septembre.</a:t>
            </a:r>
          </a:p>
          <a:p>
            <a:r>
              <a:t>Les refus argumentés montrent qu’une réflexion a précédé 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 pas lire le tableau : citer deux ou trois motifs. pysbd, parce qu’un découpage sur le point se trompe ; spaCy, parce qu’une expression régulière ne distingue pas un passif d’un passé composé.</a:t>
            </a:r>
          </a:p>
          <a:p>
            <a:r>
              <a:t>Le modèle spaCy est épinglé par URL dans requirements.txt : un simple pip install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Montrer que chaque étape a une seule responsabilité. Le cadre au-dessus : tout ce qui est dedans est caché derrière un seul appel.</a:t>
            </a:r>
          </a:p>
          <a:p>
            <a:r>
              <a:t>Si question sur la sécurité : surligner() échappe le HTML segment par segment avant d’insérer les balises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point à faire passer : les règles sont rangées par langue dans des fichiers séparés, mais elles vivent toutes dans le même registre. C’est le moteur qui trie à l’exécution, pas l’import.</a:t>
            </a:r>
          </a:p>
          <a:p>
            <a:r>
              <a:t>Une langue non couverte ne lève rien : aucune règle ne répond, la liste de signalements est vide. Aucun KeyError possible.</a:t>
            </a:r>
          </a:p>
          <a:p>
            <a:r>
              <a:t>Le tri final par position n’est pas cosmétique : surligner() parcourt le texte une seule fois, de gauche à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Exemple réel : dans le texte de démonstration, le passif « est publiée » occupe les caractères 321 à 332. Chaque couche transporte sa position par addition, elle ne la recherche jamais.</a:t>
            </a:r>
          </a:p>
          <a:p>
            <a:r>
              <a:t>Vérifié par test sur chaque paragraphe, phrase, token et signalement.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Sept lignes, mais c’est ce qui rend tout le reste mesurable : sans texte de référence unique, aucune position n’est fiable.</a:t>
            </a:r>
          </a:p>
          <a:p>
            <a:r>
              <a:t>Le tableau de droite donne les trois arguments à sortir si on demande « pourquoi normaliser ». Le plus parlant est l’apostrophe : sans elle, un lexique doit lister chaque mot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segmenteur est instancié une seule fois, au chargement du module : deux appels sur le même texte donnent le même résultat.</a:t>
            </a:r>
          </a:p>
          <a:p>
            <a:r>
              <a:t>Pourquoi pysbd et pas un découpage sur le point : « M. Dupont », « etc. », « 3,14 » coupent une phrase en deux. Pourquoi char_span=True : pysbd rend des empans, donc des positions ; sans lui il faudrait chercher la phrase dans le texte, ce que l’invariant interdit.</a:t>
            </a:r>
          </a:p>
          <a:p>
            <a:r>
              <a:t>Un bloc fait uniquement de blancs est ignoré.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C’est la deuxième moitié de l’invariant : le paramètre offset. La fonction ne cherche jamais le mot dans le texte, elle additionne la position de la phrase et celle du mot dans la phrase.</a:t>
            </a:r>
          </a:p>
          <a:p>
            <a:r>
              <a:t>Le calcul de droite reprend l’exemple de la règle d’or : la phrase commence à 310, « est » est à 11 caractères de son début, donc à 321 dans le document.</a:t>
            </a:r>
          </a:p>
          <a:p>
            <a:r>
              <a:t>Si on demande si spaCy ne tokenise pas déjà : si, pour lui-même. Sa sortie devient Sentence.analyse ; Sentence.tokens reste produit ici. Conséquence concrète : « La décision a été prise. » fait 5 mots pour la règle de longueur et 6 tokens pour spaCy.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C’est la feature choisie parce qu’une expression régulière ne peut pas la faire. Une regex signale les quatre phrases ; une seule est un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Avant la présentation : lancer flask run et faire une première analyse, le chargement de spaCy prend environ 2 secondes.</a:t>
            </a:r>
          </a:p>
          <a:p>
            <a:r>
              <a:t>Le faux positif « est susceptible d’obtenir » est corrigé depuis l’exclusion des attributs : seul un participe étiqueté VERB est retenu. Le groupe reste signalé, mais comme connecteur lourd (P5).</a:t>
            </a:r>
          </a:p>
          <a:p>
            <a:r>
              <a:t>Plan B : captures d’écran.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Sortie réelle de fr_core_news_sm sur cette phrase. Chaque mot pointe vers le mot dont il dépend ; « prise » est la racine.</a:t>
            </a:r>
          </a:p>
          <a:p>
            <a:r>
              <a:t>Sans « par le conseil », le modèle étiquette « été » en cop au lieu d’aux:pass : d’où le repli sur cop dans la règle.</a:t>
            </a:r>
          </a:p>
          <a:p>
            <a:r>
              <a:t>Le lemme est ce qui permet de reconnaître un verbe quelle que soit sa forme : c’est lui qu’on compare à la liste des verbes conjugués avec être, où figure « aller » et non « allée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règle n’importe pas spaCy : elle lit des TokenLinguistique, une dataclass maison. Remplacer spaCy ne toucherait que linguistics.py.</a:t>
            </a:r>
          </a:p>
          <a:p>
            <a:r>
              <a:t>L’empan va du premier auxiliaire au participe : « a été prise ».</a:t>
            </a:r>
          </a:p>
          <a:p>
            <a:r>
              <a:t>La question ③ est la dernière ajoutée : elle a supprimé les faux positifs sur les attributs, « est susceptible » ou « est nécessaire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Donner le chiffre franchement : 4 sur 6, contre 2 sur 6 avec les dépendances seules. Les deux échecs restants sont des attributs (état, adjectif) que le français ne distingue pas formellement du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Montrer qu’il y a un plan et un ordre de sacrifice : conteneurisation, export, anglais, administration passent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Revenir à la phrase du début. La version réécrite applique deux principes : un mot simple (P5) et un agent nommé (P8). C’est exactement ce que l’outil aide à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PRÉSENTATION DE PROJET · JEUDI 17 SEPTEMBRE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28750"/>
            <a:ext cx="1082040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0" b="1" i="0">
                <a:solidFill>
                  <a:srgbClr val="13171B"/>
                </a:solidFill>
                <a:latin typeface="Segoe UI"/>
              </a:rPr>
              <a:t>Analyseur de langage clair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62250"/>
            <a:ext cx="7239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Georgia"/>
              </a:rPr>
              <a:t>Afin d’</a:t>
            </a:r>
            <a:r>
              <a:rPr sz="2700" b="0" i="0">
                <a:solidFill>
                  <a:srgbClr val="13171B"/>
                </a:solidFill>
                <a:latin typeface="Georgia"/>
              </a:rPr>
              <a:t>assurer le suivi, une notice </a:t>
            </a:r>
            <a:r>
              <a:rPr sz="270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Georgia"/>
              </a:rPr>
              <a:t>est publiée</a:t>
            </a:r>
            <a:r>
              <a:rPr sz="27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95750"/>
            <a:ext cx="108204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Segoe UI"/>
              </a:rPr>
              <a:t>connecteur lourd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 — il existe plus simple        </a:t>
            </a:r>
            <a:r>
              <a:rPr sz="1275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Segoe UI"/>
              </a:rPr>
              <a:t>passif sans agent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 — qui publie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4806572"/>
            <a:ext cx="1619250" cy="2357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Louis Hubeaux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81300" y="4762500"/>
            <a:ext cx="5715000" cy="3238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Projet de fin de formation · Python / 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QUI JE SUIS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050" y="959276"/>
            <a:ext cx="2667000" cy="4436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i="1" dirty="0">
                <a:solidFill>
                  <a:srgbClr val="56616A"/>
                </a:solidFill>
                <a:latin typeface="Segoe UI"/>
              </a:rPr>
              <a:t>Louis Hubeaux</a:t>
            </a:r>
            <a:endParaRPr sz="2400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5350" y="2076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Mon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parcours</a:t>
            </a:r>
            <a:endParaRPr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75" i="1" dirty="0">
                <a:solidFill>
                  <a:srgbClr val="56616A"/>
                </a:solidFill>
                <a:latin typeface="Segoe UI"/>
              </a:rPr>
              <a:t>Double master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traduction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et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technologie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linguistique</a:t>
            </a:r>
            <a:r>
              <a:rPr sz="1275" b="0" i="1" dirty="0">
                <a:solidFill>
                  <a:srgbClr val="56616A"/>
                </a:solidFill>
                <a:latin typeface="Segoe UI"/>
              </a:rPr>
              <a:t>.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Expérience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tant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que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spécialiste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technologie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linguistique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dans les institutions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internationales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(Parlement EU, OMC).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96050" y="2076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Mon lien avec le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sujet</a:t>
            </a:r>
            <a:endParaRPr lang="fr-BE"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BE" sz="1275" b="0" i="1" dirty="0">
                <a:solidFill>
                  <a:srgbClr val="56616A"/>
                </a:solidFill>
                <a:latin typeface="Segoe UI"/>
              </a:rPr>
              <a:t>Lors de mon stage au parlement européen j’ai participé à un projet mettant en avant le langage clair. </a:t>
            </a:r>
            <a:r>
              <a:rPr lang="fr-BE" sz="1275" i="1" dirty="0">
                <a:solidFill>
                  <a:srgbClr val="56616A"/>
                </a:solidFill>
                <a:latin typeface="Segoe UI"/>
              </a:rPr>
              <a:t>Étant donné mon lien avec les langues, j’ai décidé d’allier cela et le dev dans un seul projet.</a:t>
            </a:r>
            <a:endParaRPr lang="fr-BE"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5350" y="3981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 err="1">
                <a:solidFill>
                  <a:srgbClr val="13171B"/>
                </a:solidFill>
                <a:latin typeface="Segoe UI"/>
              </a:rPr>
              <a:t>Pourquoi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cette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formation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75" i="1" dirty="0">
                <a:solidFill>
                  <a:srgbClr val="56616A"/>
                </a:solidFill>
                <a:latin typeface="Segoe UI"/>
              </a:rPr>
              <a:t>Au vu de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l’état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actuel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du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marché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l’emploi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traduction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Belgique,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j’ai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décidé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de me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réorienter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. En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outre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, Python est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énormément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utilisé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NLP.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96050" y="3981450"/>
            <a:ext cx="4800600" cy="843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Ce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que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je vise ensuite</a:t>
            </a:r>
            <a:endParaRPr lang="fr-BE"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BE" sz="1275" i="1" dirty="0">
                <a:solidFill>
                  <a:srgbClr val="56616A"/>
                </a:solidFill>
                <a:latin typeface="Segoe UI"/>
              </a:rPr>
              <a:t>Idéalement un poste de développeur junior ou un emploi dans le traitement des langues.</a:t>
            </a:r>
            <a:endParaRPr lang="fr-BE" sz="1275" b="0" i="1" dirty="0">
              <a:solidFill>
                <a:srgbClr val="56616A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texte peut être correct et rester illisible.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0250"/>
            <a:ext cx="9334500" cy="2095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Dans le cadre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mise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en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œuvre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dispositif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et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conformément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à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décision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comité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il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convient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transmettre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au moyen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plateforme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dédiée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l’ensemble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pièces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justificatives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préalablement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à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l’examen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dossier par les services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compétents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nonobstant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délais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annoncés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476750"/>
            <a:ext cx="323850" cy="114300"/>
          </a:xfrm>
          <a:prstGeom prst="rect">
            <a:avLst/>
          </a:prstGeom>
          <a:solidFill>
            <a:srgbClr val="D3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3950" y="4419600"/>
            <a:ext cx="857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3171B"/>
                </a:solidFill>
                <a:latin typeface="Consolas"/>
              </a:rPr>
              <a:t>1</a:t>
            </a:r>
            <a:r>
              <a:rPr sz="1275" b="0" i="0">
                <a:solidFill>
                  <a:srgbClr val="13171B"/>
                </a:solidFill>
                <a:latin typeface="Segoe UI"/>
              </a:rPr>
              <a:t> phrase de 44 mots — le seuil est de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876800"/>
            <a:ext cx="323850" cy="28575"/>
          </a:xfrm>
          <a:prstGeom prst="rect">
            <a:avLst/>
          </a:prstGeom>
          <a:solidFill>
            <a:srgbClr val="BF5F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950" y="4762500"/>
            <a:ext cx="857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3171B"/>
                </a:solidFill>
                <a:latin typeface="Consolas"/>
              </a:rPr>
              <a:t>6</a:t>
            </a:r>
            <a:r>
              <a:rPr sz="1275" b="0" i="0">
                <a:solidFill>
                  <a:srgbClr val="13171B"/>
                </a:solidFill>
                <a:latin typeface="Segoe UI"/>
              </a:rPr>
              <a:t> locutions administratives qui ont un équivalent simple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SUJET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95250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Une application web qui montre, dans le texte, ce qui nuit à sa clarté.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 RÉFÉRENTIEL EXISTANT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Les dix principes de 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1">
                <a:solidFill>
                  <a:srgbClr val="56616A"/>
                </a:solidFill>
                <a:latin typeface="Segoe UI"/>
              </a:rPr>
              <a:t>Comment écrire clairement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, le guide de rédaction de la Commission européenne. Des critères publiés et citables, pas inventés pour l’occasion.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96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96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MON EXPÉRIENCE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96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4850" y="3340632"/>
            <a:ext cx="3162300" cy="5005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BE" sz="1275" b="0" i="1" noProof="0" dirty="0">
                <a:solidFill>
                  <a:srgbClr val="56616A"/>
                </a:solidFill>
                <a:latin typeface="Segoe UI"/>
              </a:rPr>
              <a:t>Lors de mes contrats dans les institutions internationales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534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534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UNE DÉMONSTRATION IMMÉDIATE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34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On colle un texte, on clique, les défauts apparaissent surlignés. Le résultat se voit sans explication.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RÉFÉRENTIEL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Dix principes de rédaction claire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915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1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Réfléchir avant d’écrire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72740" y="171450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0609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2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Penser au lecteur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609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59680" y="171450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9303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3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Structurer le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03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6620" y="1714500"/>
            <a:ext cx="2072640" cy="15430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7997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4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highlight>
                  <a:srgbClr val="D3E4EA"/>
                </a:highlight>
                <a:latin typeface="Segoe UI"/>
              </a:rPr>
              <a:t>Faire court et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97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Règle livrée · longueur_phrase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33560" y="1714500"/>
            <a:ext cx="2072640" cy="15430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6691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5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Segoe UI"/>
              </a:rPr>
              <a:t>Choisir des mots simples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6691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Règle livrée · connecteurs_lourds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371850"/>
            <a:ext cx="2072640" cy="15430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915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6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Alléger les noms, préférer les verbes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Prévu · nominalisations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72740" y="337185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00609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7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Être concret plutôt qu’abstrait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609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59680" y="3371850"/>
            <a:ext cx="2072640" cy="15430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9303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8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Segoe UI"/>
              </a:rPr>
              <a:t>Préciser qui fait quoi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03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Règle livrée · passif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3371850"/>
            <a:ext cx="2072640" cy="15430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7997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9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Éviter le jargon et les abréviations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97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Prévu · jargon, sigles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33560" y="337185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6691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10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Relire et vérifier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6691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200650"/>
            <a:ext cx="209550" cy="1333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1550" y="5162550"/>
            <a:ext cx="285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détecté automatiquement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5200650"/>
            <a:ext cx="209550" cy="1333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00550" y="5162550"/>
            <a:ext cx="285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prévu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19800" y="5200650"/>
            <a:ext cx="209550" cy="1333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5550" y="5162550"/>
            <a:ext cx="285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dirty="0">
                <a:solidFill>
                  <a:srgbClr val="56616A"/>
                </a:solidFill>
                <a:latin typeface="Segoe UI"/>
              </a:rPr>
              <a:t>hors de </a:t>
            </a:r>
            <a:r>
              <a:rPr sz="1275" b="0" i="0" dirty="0" err="1">
                <a:solidFill>
                  <a:srgbClr val="56616A"/>
                </a:solidFill>
                <a:latin typeface="Segoe UI"/>
              </a:rPr>
              <a:t>portée</a:t>
            </a:r>
            <a:r>
              <a:rPr sz="1275" b="0" i="0" dirty="0">
                <a:solidFill>
                  <a:srgbClr val="56616A"/>
                </a:solidFill>
                <a:latin typeface="Segoe UI"/>
              </a:rPr>
              <a:t> </a:t>
            </a:r>
            <a:r>
              <a:rPr sz="1275" b="0" i="0" dirty="0" err="1">
                <a:solidFill>
                  <a:srgbClr val="56616A"/>
                </a:solidFill>
                <a:latin typeface="Segoe UI"/>
              </a:rPr>
              <a:t>d’une</a:t>
            </a:r>
            <a:r>
              <a:rPr sz="1275" b="0" i="0" dirty="0">
                <a:solidFill>
                  <a:srgbClr val="56616A"/>
                </a:solidFill>
                <a:latin typeface="Segoe UI"/>
              </a:rPr>
              <a:t> machine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PUBLIC ET OBJECTIF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82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POUR 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2197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agents publics qui rédigent courriers, notices et formulaires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services de communication des institutions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juristes qui écrivent pour le grand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38500"/>
            <a:ext cx="52197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Et, indirectement, les usagers qui doivent comprendre ces textes pour faire valoir leurs droits.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12382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OBJECTIF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1600200"/>
            <a:ext cx="5219700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13171B"/>
                </a:solidFill>
                <a:latin typeface="Segoe UI"/>
              </a:rPr>
              <a:t>Montrer l’endroit du problème, pas donner une note.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3238500"/>
            <a:ext cx="1524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75" b="0" i="0" strike="sngStrike">
                <a:solidFill>
                  <a:srgbClr val="56616A"/>
                </a:solidFill>
                <a:latin typeface="Consolas"/>
              </a:rPr>
              <a:t>73/100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200400"/>
            <a:ext cx="35052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Toute pondération serait arbitraire. Un score invite à optimiser un chiffre ; un surlignage invite à relire.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FONCTIONNALITÉS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Fonctionnalités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D7852"/>
                </a:solidFill>
                <a:latin typeface="Segoe UI"/>
              </a:rPr>
              <a:t>Fonctionne aujourd’hui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Analyse d’un texte collé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Trois règles : longueur, connecteurs, passif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Surlignage relié aux fiches, dans les deux sens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Principe et reformulation sur chaque fiche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96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96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Prévu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96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Import .txt .md .docx .odt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Validation serveur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texte vide, trop long, fichier corrompu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Règles nominalisations et jargon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Configuration des règles, historique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534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534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Refusé, volontairement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4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.pdf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l’extraction casse les paragraphes, donc la mesure des phrases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.doc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format binaire obsolète, sans bibliothèque fiable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Réécriture par IA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le travail intéressant sortirait du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STACK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Stack technique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66875"/>
          <a:ext cx="10820400" cy="39814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43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Outil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Pourquoi celui-là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Langage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Python 3.14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L’écosystème de traitement du langage est en Python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Web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Flask 3.1 · Jinja2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Léger et explicite : l’architecture reste lisible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Données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SQLAlchemy · Alembic · SQLite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ORM, migrations versionnées, zéro configuration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Phrases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pysbd 0.3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Ne coupe pas sur « M. », « etc. » ni « 3,14 »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Grammaire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spaCy 3.8 · fr_core_news_sm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Analyse en dépendances : indispensable pour le 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Interface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HTML · CSS · JS natif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Une page, une trentaine de lignes de script, aucun framework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Tests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pytest 9.1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19 tests en 2 secondes, lançables en direct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Import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56616A"/>
                          </a:solidFill>
                          <a:latin typeface="Segoe UI"/>
                        </a:rPr>
                        <a:t>python-docx · odfpy · defusedxml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Installés, pour l’import de fichiers à venir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LA CHAÎNE DE TRAITEMENT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Du texte brut au surlignage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66875"/>
            <a:ext cx="10820400" cy="285750"/>
          </a:xfrm>
          <a:prstGeom prst="rect">
            <a:avLst/>
          </a:prstGeom>
          <a:noFill/>
          <a:ln w="19050">
            <a:solidFill>
              <a:srgbClr val="00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" y="1666875"/>
            <a:ext cx="105918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006F8A"/>
                </a:solidFill>
                <a:latin typeface="Consolas"/>
              </a:rPr>
              <a:t>build_document(texte_brut, langue="fr")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normalize()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apostrophes, espaces insécables, accents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4988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6418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segment()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paragraphes, puis phrases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1396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826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tokenize()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mots avec leur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9234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analyser_phrases()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spaCy, phrase par phrase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212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5642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Document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l’objet reçu par les règles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80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6616A"/>
                </a:solidFill>
                <a:latin typeface="Consolas"/>
              </a:rPr>
              <a:t>puis, dans la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run(document)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toutes les règles → Finding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9880" y="3333750"/>
            <a:ext cx="9525" cy="8572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418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surligner()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échappe, puis balise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3960" y="3333750"/>
            <a:ext cx="9525" cy="8572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826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template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texte et fiches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572000"/>
            <a:ext cx="52197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7053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 SEUL POINT D’ENTRÉE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972050"/>
            <a:ext cx="52197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0" i="0">
                <a:solidFill>
                  <a:srgbClr val="56616A"/>
                </a:solidFill>
                <a:latin typeface="Segoe UI"/>
              </a:rPr>
              <a:t>La normalisation se fait une fois. Le texte normalisé devient l’unique référence : impossible de construire un Document sur un autre texte.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6500" y="4572000"/>
            <a:ext cx="52197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6500" y="47053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MESURÉ, PAS SUPPOSÉ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4972050"/>
            <a:ext cx="52197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0" i="0">
                <a:solidFill>
                  <a:srgbClr val="56616A"/>
                </a:solidFill>
                <a:latin typeface="Segoe UI"/>
              </a:rPr>
              <a:t>Laissé seul, spaCy fusionne un titre avec la phrase suivante. pysbd découpe ; spaCy n’analyse que des phrases déjà isolées.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2500"/>
            <a:ext cx="4762500" cy="3638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app/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├── __init__.py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create_app()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├── models/    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SQLAlchemy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├── routes/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│   └── analyze.py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GET/POST 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└── services/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├── document.py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build_document()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├── </a:t>
            </a:r>
            <a:r>
              <a:rPr sz="1162" b="0" i="0">
                <a:solidFill>
                  <a:srgbClr val="006F8A"/>
                </a:solidFill>
                <a:latin typeface="Consolas"/>
              </a:rPr>
              <a:t>linguistics.py</a:t>
            </a:r>
            <a:r>
              <a:rPr sz="1162" b="0" i="0">
                <a:solidFill>
                  <a:srgbClr val="13171B"/>
                </a:solidFill>
                <a:latin typeface="Consolas"/>
              </a:rPr>
              <a:t>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seul import de spaCy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├── rendering.py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└── rules/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base.py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Rule, Finding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runner.py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registre, run()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seuils.py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données par langue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lexiques.py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données par langue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</a:t>
            </a:r>
            <a:r>
              <a:rPr sz="1162" b="0" i="0">
                <a:solidFill>
                  <a:srgbClr val="006F8A"/>
                </a:solidFill>
                <a:latin typeface="Consolas"/>
              </a:rPr>
              <a:t>fr.py</a:t>
            </a:r>
            <a:r>
              <a:rPr sz="1162" b="0" i="0">
                <a:solidFill>
                  <a:srgbClr val="13171B"/>
                </a:solidFill>
                <a:latin typeface="Consolas"/>
              </a:rPr>
              <a:t>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règles françaises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└── en.py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anglaises, à venir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38800" y="952500"/>
            <a:ext cx="381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Consolas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76950" y="933450"/>
            <a:ext cx="54292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Un registre unique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Le décorateur @enregistrer range une instance de la règle dans _registre au moment de l’import. fr.py et en.py remplissent le même registre : le moteur, lui, ne connaît aucune langue.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800" y="2381250"/>
            <a:ext cx="381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Consolas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76950" y="2362200"/>
            <a:ext cx="54292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Le tri se fait à l’exécution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Chaque règle déclare langues = ("fr",). run(document) écarte celles qui ne répondent pas, exécute les autres, puis trie les signalements par position — le surlignage exige un texte parcouru de gauche à droite.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38800" y="3810000"/>
            <a:ext cx="5867400" cy="1464945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91200" y="3962400"/>
            <a:ext cx="5562600" cy="1160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regle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_registre: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if not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regle.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s_applique_a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(document.langue):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findings.extend(regle.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check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(document))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sorted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(findings, key=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lambda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f: (f.char_start, f.char_end))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LA RÈGLE D’OR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signalement est un endroit. Il doit être exact.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05000"/>
            <a:ext cx="10820400" cy="70485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05000"/>
            <a:ext cx="10363200" cy="7048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E4E4E4"/>
                </a:solidFill>
                <a:latin typeface="Consolas"/>
              </a:rPr>
              <a:t>document.texte[start:end] </a:t>
            </a:r>
            <a:r>
              <a:rPr sz="2250" b="1" i="0">
                <a:solidFill>
                  <a:srgbClr val="F0A46A"/>
                </a:solidFill>
                <a:latin typeface="Consolas"/>
              </a:rPr>
              <a:t>==</a:t>
            </a:r>
            <a:r>
              <a:rPr sz="2250" b="1" i="0">
                <a:solidFill>
                  <a:srgbClr val="E4E4E4"/>
                </a:solidFill>
                <a:latin typeface="Consolas"/>
              </a:rPr>
              <a:t> fragment.texte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52750"/>
            <a:ext cx="108204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 i="0">
                <a:solidFill>
                  <a:srgbClr val="13171B"/>
                </a:solidFill>
                <a:latin typeface="Consolas"/>
              </a:rPr>
              <a:t>une notice </a:t>
            </a:r>
            <a:r>
              <a:rPr sz="225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Consolas"/>
              </a:rPr>
              <a:t>est publiée</a:t>
            </a:r>
            <a:r>
              <a:rPr sz="2250" b="0" i="0">
                <a:solidFill>
                  <a:srgbClr val="13171B"/>
                </a:solidFill>
                <a:latin typeface="Consola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90900"/>
            <a:ext cx="76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310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9825" y="33909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7446C9"/>
                </a:solidFill>
                <a:latin typeface="Consolas"/>
              </a:rPr>
              <a:t>321 → 332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191000"/>
            <a:ext cx="5219700" cy="1905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343400"/>
            <a:ext cx="5219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3171B"/>
                </a:solidFill>
                <a:latin typeface="Consolas"/>
              </a:rPr>
              <a:t>texte.find(phrase)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Retombe sur la première occurrence dès qu’une phrase se répète.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6500" y="4191000"/>
            <a:ext cx="5219700" cy="1905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500" y="4343400"/>
            <a:ext cx="5219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3171B"/>
                </a:solidFill>
                <a:latin typeface="Consolas"/>
              </a:rPr>
              <a:t>somme des longueurs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Dérive de 2 caractères à chaque ligne vide entre paragraphes.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LE NETTOYAGE DU 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Six transformations, une seule fois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229362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1988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C9A6FF"/>
                </a:solidFill>
                <a:latin typeface="Consolas"/>
              </a:rPr>
              <a:t>def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normalize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(texte: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-&gt;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texte.lstrip(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"\ufeff"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BOM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"\r\n"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"\r"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fins de ligne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unicodedata.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normalize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"NFC"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texte)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e + accent donne é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"\u00AD"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césure invisible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"\u2019"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"'"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apostrophe courbe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"\u00A0"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 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"\u202F"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 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insécables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texte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ICI, ET NULLE PART AILLEURS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build_document() appelle normalize() en premier. Le texte normalisé devient la référence, et c’est lui qui est réaffiché au lecteur.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31432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2575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 QUE ÇA ÉVITE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1050" y="35052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Un « é » écrit en deux caractères en compte deux. Un \r\n décale toutes les positions d’un caractère par ligne.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1050" y="44767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1050" y="45910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 QUE ÇA REND 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1050" y="48387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« l’ensemble » et « l’ensemble » deviennent le même mot : les lexiques n’ont plus qu’une orthographe à connaître.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Paragraphes d’abord, phrases ensuite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3785235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3480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_segmenter = pysbd.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Segmenter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(language=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"fr"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, clean=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False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, char_span=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True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A6FF"/>
                </a:solidFill>
                <a:latin typeface="Consolas"/>
              </a:rPr>
              <a:t>def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segment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(texte: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) -&gt;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list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[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list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[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dict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]]: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paragraphes = []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un paragraphe = des lignes consécutives sans ligne vide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bloc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re.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finditer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r"[^\n]+(?:\n[^\n]+)*"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, texte):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phrases = []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span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_segmenter.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segment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group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()):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positions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phrases.append({                           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relatives au bloc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   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"texte"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span.sent,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   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"start"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start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 + span.start,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reportées sur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   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"end"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start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 + span.end,    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le texte complet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})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paragraphes.append({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"texte"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group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(), ...,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"phrases"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phrases})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paragraphes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DEUX NIVEAUX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Le paragraphe sert de cadre : pysbd ne voit jamais le document entier, seulement un bloc de lignes.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30480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1623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CLEAN=FALSE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1050" y="34099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pysbd sait aussi nettoyer le texte. On le lui interdit : on veut ses positions, pas sa réécriture.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1050" y="4381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1050" y="4495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LA MÊME ADDITION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1050" y="4743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bloc.start() + span.start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Position du contenant, plus position dans le contenant.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TOKENISATION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mot, une position absolue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2542222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223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C9A6FF"/>
                </a:solidFill>
                <a:latin typeface="Consolas"/>
              </a:rPr>
              <a:t>def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tokenize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(phrase: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offset: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int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= 0) -&gt;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list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[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dict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]: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result = []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match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re.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finditer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r"\S+"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phrase):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une suite sans espace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result.append({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"texte"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 match.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group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(),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"start"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 offset + match.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start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(),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reportée sur le texte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"end"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 offset + match.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end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(),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complet, jamais cherchée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})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L’APPEL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tokenize(phrase["texte"],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         phrase["start"])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2857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0099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position de la phrase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9450" y="30099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310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1050" y="32766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match.start()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9450" y="32766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+ 11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1050" y="3543300"/>
            <a:ext cx="310515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01050" y="36195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« est » commence 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39450" y="36195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321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1050" y="40957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01050" y="42100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LIMITE ASSUMÉE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1050" y="44577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\S+ laisse la ponctuation collée au mot. Suffisant pour compter, à affiner plus tard.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1050" y="5191125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01050" y="5305425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DEUX TOKENISATIONS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1050" y="5553075"/>
            <a:ext cx="3105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Celle-ci compte les mots pour la règle de longueur. spaCy fait la sienne, plus fine, pour la grammaire : elle vit dans Sentence.analyse et ne remplace pas Sentence.tokens.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DÉTECTION DU PASSIF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Même forme, quatre constructions différentes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09750"/>
          <a:ext cx="10820400" cy="25527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33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Phrase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Ce que c’est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Regex « être + participe »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</a:t>
                      </a:r>
                      <a:r>
                        <a:rPr sz="1650" b="0" i="0" u="sng">
                          <a:solidFill>
                            <a:srgbClr val="13171B"/>
                          </a:solidFill>
                          <a:uFill>
                            <a:solidFill>
                              <a:srgbClr val="7446C9"/>
                            </a:solidFill>
                          </a:uFill>
                          <a:latin typeface="Georgia"/>
                        </a:rPr>
                        <a:t>a été prise</a:t>
                      </a: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vrai 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D7852"/>
                          </a:solidFill>
                          <a:latin typeface="Segoe UI"/>
                        </a:rPr>
                        <a:t>passif 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Elle est allée à Paris.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passé composé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La porte est ouverte.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état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Il est convaincu.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adjectif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72000"/>
            <a:ext cx="95250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56616A"/>
                </a:solidFill>
                <a:latin typeface="Segoe UI"/>
              </a:rPr>
              <a:t>Principe 8 : un passif sans agent cache qui décide. Pour le repérer, il faut la grammaire de la phrase, pas sa surface.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Démo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14500"/>
            <a:ext cx="5715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TEXTE À COLLER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5715000" cy="180975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90750"/>
            <a:ext cx="5257800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4E4E4"/>
                </a:solidFill>
                <a:latin typeface="Georgia"/>
              </a:rPr>
              <a:t>La décision a été prise par le conseil.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4E4E4"/>
                </a:solidFill>
                <a:latin typeface="Georgia"/>
              </a:rPr>
              <a:t>La décision a été prise.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4E4E4"/>
                </a:solidFill>
                <a:latin typeface="Georgia"/>
              </a:rPr>
              <a:t>Elle est allée à Paris.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0050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Adresse : </a:t>
            </a:r>
            <a:r>
              <a:rPr sz="1275" b="0" i="0">
                <a:solidFill>
                  <a:srgbClr val="56616A"/>
                </a:solidFill>
                <a:latin typeface="Consolas"/>
              </a:rPr>
              <a:t>http://127.0.0.1:5000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7050" y="173355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77050" y="17335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8050" y="171450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Phrase 1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 — passif avec agent, sévérité </a:t>
            </a:r>
            <a:r>
              <a:rPr sz="1500" b="0" i="1">
                <a:solidFill>
                  <a:srgbClr val="13171B"/>
                </a:solidFill>
                <a:latin typeface="Segoe UI"/>
              </a:rPr>
              <a:t>info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7050" y="259080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77050" y="259080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8050" y="257175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Phrase 2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 — même passif sans « par le conseil » : </a:t>
            </a:r>
            <a:r>
              <a:rPr sz="1500" b="0" i="1">
                <a:solidFill>
                  <a:srgbClr val="13171B"/>
                </a:solidFill>
                <a:latin typeface="Segoe UI"/>
              </a:rPr>
              <a:t>avertissement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, on ne sait plus qui décide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7050" y="344805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77050" y="34480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8050" y="342900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Phrase 3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 — aucun signalement : « aller » se conjugue avec être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7050" y="430530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77050" y="430530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8050" y="428625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3171B"/>
                </a:solidFill>
                <a:latin typeface="Segoe UI"/>
              </a:rPr>
              <a:t>Cliquer un surlignage : la fiche s’ouvre, avec son principe et ses positions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CE QUE VOIT SPACY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L’analyse en dépendances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3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NOUN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3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3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été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85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63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3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VERB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par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9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7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7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conseil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NOUN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2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82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PUNCT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95525" y="3543300"/>
            <a:ext cx="19050" cy="2667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66800" y="3543300"/>
            <a:ext cx="123825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57275" y="3543300"/>
            <a:ext cx="19050" cy="1714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0191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675" y="3295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38775" y="3143250"/>
            <a:ext cx="19050" cy="6667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43300" y="3143250"/>
            <a:ext cx="190500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533775" y="3143250"/>
            <a:ext cx="19050" cy="5715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34956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067050" y="28956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aux:tense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275" y="3543300"/>
            <a:ext cx="19050" cy="2667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639050" y="3543300"/>
            <a:ext cx="104775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629525" y="3543300"/>
            <a:ext cx="19050" cy="1714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59142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05675" y="3295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77275" y="3143250"/>
            <a:ext cx="19050" cy="6667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781800" y="3143250"/>
            <a:ext cx="190500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772275" y="3143250"/>
            <a:ext cx="19050" cy="5715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Isosceles Triangle 39"/>
          <p:cNvSpPr/>
          <p:nvPr/>
        </p:nvSpPr>
        <p:spPr>
          <a:xfrm rot="10800000">
            <a:off x="67341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77050" y="28956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34012" y="2743200"/>
            <a:ext cx="28575" cy="10668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400550" y="2743200"/>
            <a:ext cx="104775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386262" y="2743200"/>
            <a:ext cx="28575" cy="9715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Isosceles Triangle 44"/>
          <p:cNvSpPr/>
          <p:nvPr/>
        </p:nvSpPr>
        <p:spPr>
          <a:xfrm rot="10800000">
            <a:off x="435292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067175" y="24955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aux:pass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34012" y="2324100"/>
            <a:ext cx="28575" cy="14859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305050" y="2324100"/>
            <a:ext cx="314325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290762" y="2324100"/>
            <a:ext cx="28575" cy="13906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Isosceles Triangle 49"/>
          <p:cNvSpPr/>
          <p:nvPr/>
        </p:nvSpPr>
        <p:spPr>
          <a:xfrm rot="10800000">
            <a:off x="225742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019425" y="20764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nsubj:pass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4012" y="1905000"/>
            <a:ext cx="28575" cy="19050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448300" y="1905000"/>
            <a:ext cx="323850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672512" y="1905000"/>
            <a:ext cx="28575" cy="18097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Isosceles Triangle 54"/>
          <p:cNvSpPr/>
          <p:nvPr/>
        </p:nvSpPr>
        <p:spPr>
          <a:xfrm rot="10800000">
            <a:off x="863917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0300" y="16573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obl:agent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3300" y="4305300"/>
            <a:ext cx="228600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85800" y="4762500"/>
            <a:ext cx="2476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5800" y="4876800"/>
            <a:ext cx="24765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AUX:PASS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124450"/>
            <a:ext cx="24765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« été » est l’auxiliaire d’un passif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29000" y="4762500"/>
            <a:ext cx="2476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429000" y="4876800"/>
            <a:ext cx="24765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OBL:AGENT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29000" y="5124450"/>
            <a:ext cx="24765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« conseil » est celui qui agit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72200" y="4762500"/>
            <a:ext cx="53340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72200" y="4876800"/>
            <a:ext cx="5334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LEMME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72200" y="5124450"/>
            <a:ext cx="53340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La forme de base du mot, celle du dictionnaire : l’infinitif pour un verbe. spaCy la donne pour chaque token.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prise → prendre   allée → aller   sont → être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RÈGLE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Cinq questions posées à l’arbre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66875"/>
            <a:ext cx="7620000" cy="4398454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19275"/>
            <a:ext cx="7315200" cy="40936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phrase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document.phrases: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auxiliaire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phrase.analyse: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1 un auxiliaire de passif, ou une copule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if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auxiliaire.fonction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not 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{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"aux:pass"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"cop"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}: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2 son gouverneur est le participe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participe = phrase.analyse[auxiliaire.gouverneur]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3 un participe, ou un simple attribut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if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participe.categorie != 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"VERB"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4 un verbe conjugué avec être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if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participe.lemme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</a:t>
            </a:r>
            <a:r>
              <a:rPr sz="975" b="0" i="0">
                <a:solidFill>
                  <a:srgbClr val="6CCFE6"/>
                </a:solidFill>
                <a:latin typeface="Consolas"/>
              </a:rPr>
              <a:t>verbes_conjugues_avec_etre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(document.langue):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5 un complément d'agent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a_un_agent = </a:t>
            </a:r>
            <a:r>
              <a:rPr sz="975" b="0" i="0">
                <a:solidFill>
                  <a:srgbClr val="6CCFE6"/>
                </a:solidFill>
                <a:latin typeface="Consolas"/>
              </a:rPr>
              <a:t>any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(token.fonction == 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"obl:agent"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 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and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token.gouverneur == auxiliaire.gouverneur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 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token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phrase.analyse)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findings.append(self.</a:t>
            </a:r>
            <a:r>
              <a:rPr sz="975" b="0" i="0">
                <a:solidFill>
                  <a:srgbClr val="6CCFE6"/>
                </a:solidFill>
                <a:latin typeface="Consolas"/>
              </a:rPr>
              <a:t>signaler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(debut, participe.end, message,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                          severity=severity))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1550" y="16668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6478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Repérer l’auxiliaire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cop couvre le passif sans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1550" y="248602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246697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Remonter au participe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9241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9051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Écarter les attributs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« est susceptible », « est nécessaire » : le mot n’est pas un VERB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1550" y="374332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372427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Écarter « elle est allée »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17 verbes, dans une liste de données par langue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1550" y="45624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45434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Chercher l’agent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absent → sévérité avertissement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5476875"/>
            <a:ext cx="29146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Extrait simplifié de app/services/rules/fr.py. La règle lit Sentence.analyse, jamais un objet spaCy.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RÉSULTATS MESURÉS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Les heuristiques doublent le score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14500"/>
          <a:ext cx="8191500" cy="3257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Phrase de référence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Attendu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Dépendances seules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Règle actuelle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a été prise par le conseil.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a été prise.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Le rapport sera publié demain.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Elle est allée à Paris.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non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porte est ouverte.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ambigu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Il est convaincu de son bon droit.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non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Consolas"/>
                        </a:rPr>
                        <a:t>2/6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D7852"/>
                          </a:solidFill>
                          <a:latin typeface="Consolas"/>
                        </a:rPr>
                        <a:t>4/6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85800" y="2038350"/>
            <a:ext cx="8191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58300" y="1714500"/>
            <a:ext cx="224790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58300" y="1828800"/>
            <a:ext cx="22479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3171B"/>
                </a:solidFill>
                <a:latin typeface="Consolas"/>
              </a:rPr>
              <a:t>sm = md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 modèle moyen, comparé sur sept phrases, ne change aucun résultat.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258300" y="3143250"/>
            <a:ext cx="224790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58300" y="3257550"/>
            <a:ext cx="22479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3171B"/>
                </a:solidFill>
                <a:latin typeface="Consolas"/>
              </a:rPr>
              <a:t>cop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 repli sur la copule rattrape « La décision a été prise » : sans agent, spaCy n’étiquette plus aux:pass.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58300" y="4762500"/>
            <a:ext cx="224790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58300" y="4876800"/>
            <a:ext cx="22479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3171B"/>
                </a:solidFill>
                <a:latin typeface="Consolas"/>
              </a:rPr>
              <a:t>VERB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 filtre sur la catégorie écarte « est susceptible » et « est nécessaire 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OÙ J’EN SUIS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Trois semaines, une chaîne qui fonctionne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43200"/>
            <a:ext cx="10820400" cy="190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628900"/>
            <a:ext cx="2421082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2628900"/>
            <a:ext cx="2268682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BFCFC"/>
                </a:solidFill>
                <a:latin typeface="Segoe UI"/>
              </a:rPr>
              <a:t>Chaîne complète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8655" y="2628900"/>
            <a:ext cx="2421082" cy="247650"/>
          </a:xfrm>
          <a:prstGeom prst="rect">
            <a:avLst/>
          </a:prstGeom>
          <a:solidFill>
            <a:srgbClr val="D3E4EA"/>
          </a:solidFill>
          <a:ln w="19050">
            <a:solidFill>
              <a:srgbClr val="00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4855" y="2628900"/>
            <a:ext cx="2268682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171B"/>
                </a:solidFill>
                <a:latin typeface="Segoe UI"/>
              </a:rPr>
              <a:t>spaCy, passif, import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7571509" y="2628900"/>
            <a:ext cx="1929245" cy="2476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47709" y="2628900"/>
            <a:ext cx="1776845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616A"/>
                </a:solidFill>
                <a:latin typeface="Segoe UI"/>
              </a:rPr>
              <a:t>Durcissement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38855" y="2628900"/>
            <a:ext cx="1437409" cy="2476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15055" y="2628900"/>
            <a:ext cx="1285009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616A"/>
                </a:solidFill>
                <a:latin typeface="Segoe UI"/>
              </a:rPr>
              <a:t>Répétition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014364" y="2628900"/>
            <a:ext cx="453736" cy="247650"/>
          </a:xfrm>
          <a:prstGeom prst="rect">
            <a:avLst/>
          </a:prstGeom>
          <a:solidFill>
            <a:srgbClr val="006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090564" y="2628900"/>
            <a:ext cx="301336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BFCFC"/>
                </a:solidFill>
                <a:latin typeface="Segoe UI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0082" y="2190750"/>
            <a:ext cx="19050" cy="7429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5332" y="21717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446C9"/>
                </a:solidFill>
                <a:latin typeface="Segoe UI"/>
              </a:rPr>
              <a:t>aujourd’hui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19805" y="2552700"/>
            <a:ext cx="28575" cy="41910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81705" y="314325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52C"/>
                </a:solidFill>
                <a:latin typeface="Segoe UI"/>
              </a:rPr>
              <a:t>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07/09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19105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14/09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1959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21/09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9305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24/09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8050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28/09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095750"/>
            <a:ext cx="34036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229100"/>
            <a:ext cx="3403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CETTE SEMAINE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495800"/>
            <a:ext cx="34036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Import de fichiers : registre d’extracteurs, puis .txt, .md, .docx.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94200" y="4095750"/>
            <a:ext cx="34036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94200" y="4229100"/>
            <a:ext cx="3403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AVANT LE GEL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4200" y="4495800"/>
            <a:ext cx="34036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Validation serveur : texte vide, trop long, format refusé, fichier corrompu.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2600" y="4095750"/>
            <a:ext cx="34036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02600" y="4229100"/>
            <a:ext cx="3403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JAMAIS SACRIFIÉ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2600" y="4495800"/>
            <a:ext cx="34036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La chaîne, le surlignage, le passif, les tests, la répétition.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POUR FINIR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05000"/>
            <a:ext cx="1143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AVANT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9300" y="1809750"/>
            <a:ext cx="8572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Georgia"/>
              </a:rPr>
              <a:t>Afin d’</a:t>
            </a:r>
            <a:r>
              <a:rPr sz="2400" b="0" i="0">
                <a:solidFill>
                  <a:srgbClr val="13171B"/>
                </a:solidFill>
                <a:latin typeface="Georgia"/>
              </a:rPr>
              <a:t>assurer le suivi, une notice </a:t>
            </a:r>
            <a:r>
              <a:rPr sz="240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Georgia"/>
              </a:rPr>
              <a:t>est publiée</a:t>
            </a:r>
            <a:r>
              <a:rPr sz="24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7500"/>
            <a:ext cx="1143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9300" y="2743200"/>
            <a:ext cx="8572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50" b="0" i="0" dirty="0">
                <a:solidFill>
                  <a:srgbClr val="13171B"/>
                </a:solidFill>
                <a:latin typeface="Georgia"/>
              </a:rPr>
              <a:t>Pour assurer le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suivi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, le service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publie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une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 notice.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91000"/>
            <a:ext cx="10820400" cy="637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 dirty="0">
                <a:solidFill>
                  <a:srgbClr val="13171B"/>
                </a:solidFill>
                <a:latin typeface="Segoe UI"/>
              </a:rPr>
              <a:t>Merci</a:t>
            </a:r>
            <a:r>
              <a:rPr lang="en-US" sz="3450" b="1" i="0" dirty="0">
                <a:solidFill>
                  <a:srgbClr val="13171B"/>
                </a:solidFill>
                <a:latin typeface="Segoe UI"/>
              </a:rPr>
              <a:t> de </a:t>
            </a:r>
            <a:r>
              <a:rPr lang="en-US" sz="3450" b="1" i="0" dirty="0" err="1">
                <a:solidFill>
                  <a:srgbClr val="13171B"/>
                </a:solidFill>
                <a:latin typeface="Segoe UI"/>
              </a:rPr>
              <a:t>votre</a:t>
            </a:r>
            <a:r>
              <a:rPr lang="en-US" sz="3450" b="1" i="0" dirty="0">
                <a:solidFill>
                  <a:srgbClr val="13171B"/>
                </a:solidFill>
                <a:latin typeface="Segoe UI"/>
              </a:rPr>
              <a:t> attention !</a:t>
            </a:r>
            <a:endParaRPr sz="3450" b="1" i="0" dirty="0">
              <a:solidFill>
                <a:srgbClr val="13171B"/>
              </a:solidFill>
              <a:latin typeface="Segoe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3804</Words>
  <Application>Microsoft Office PowerPoint</Application>
  <PresentationFormat>Grand écran</PresentationFormat>
  <Paragraphs>459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Consolas</vt:lpstr>
      <vt:lpstr>Georgia</vt:lpstr>
      <vt:lpstr>Segoe UI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Analyseur de langage clair</dc:title>
  <dc:subject>Projet de fin de formation · Python / Flask</dc:subject>
  <dc:creator/>
  <cp:keywords/>
  <dc:description>Genere depuis le deck HTML. Les cadres pointilles restent a remplir.</dc:description>
  <cp:lastModifiedBy>Louis Hubeaux</cp:lastModifiedBy>
  <cp:revision>3</cp:revision>
  <dcterms:created xsi:type="dcterms:W3CDTF">2013-01-27T09:14:16Z</dcterms:created>
  <dcterms:modified xsi:type="dcterms:W3CDTF">2026-09-16T14:52:05Z</dcterms:modified>
  <cp:category/>
</cp:coreProperties>
</file>