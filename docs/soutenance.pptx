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62" r:id="rId21"/>
    <p:sldId id="279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390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 pas lire la phrase tout de suite : la laisser à l’écran pendant qu’on se présente. On y reviendra à la toute fin, réécrite.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 15 au maximum. Terminer sur le lien avec le sujet : c’est la transition naturelle vers « pourquoi ce projet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Résultat réel de l’analyseur sur ce paragraphe. Faire lire la phrase en silence au jury : on perd le fil vers « pièces justificatives ».</a:t>
            </a:r>
          </a:p>
          <a:p>
            <a:r>
              <a:t>Les défauts sont connus et récurrents — phrases trop longues, passifs qui cachent qui décide, noms à la place des verbes, jargon. Donc repérables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Répond à « Quel est votre sujet ? » et « Pourquoi cette idée ? ». Le référentiel est l’argument le plus solide : aucun critère n’est arbitraire, chaque signalement renvoie à un principe numéroté.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référentiel est l’argument le plus solide : aucun critère n’est inventé, chaque signalement renvoie à un principe numéroté du guide de la Commission européenne. Trois principes laissent une trace mesurable dans le texte, ce sont les trois règles livrées.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à faire valoir : l’outil ne prétend pas tout vérifier. Cinq principes relèvent du jugement humain — réfléchir, penser au lecteur, structurer, être concret, relire. Deux autres sont des pistes : ils laissent une trace dans le texte, donc une règle pourrait les détecter avec le même moteur.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Répond à « À qui est-ce destiné ? » et « Quel est l’objectif principal ? ». L’absence de score est une décision assumée, pas un manque : la défendre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Démonstration du parcours complet, environ cinq minutes. Avant la soutenance : flask run, puis une première analyse pour charger spaCy (environ deux secondes). Étape 1 : coller les deux paragraphes ; la première phrase (44 mots) porte à la fois la règle de longueur et des connecteurs, sans balises imbriquées ; « une notice est publiée » est un passif sans agent. Étape 3 : « À cet égard » n’est pas signalé, on l’ajoute dans Listes de mots, on relance, il l’est — sans redémarrage, les règles relisent la base. Étape 4 : la base ne contient aucun HTML, seulement le texte normalisé et les empans. Étape 5 : les quatre fichiers d’exemples/ donnent les mêmes signalements ; le .pdf reçoit un message dédié. Plan B : cette capture, et la suite de tests lancée en direct.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 pas lire le tableau : citer deux ou trois motifs. pysbd, parce qu’un découpage sur le point se trompe ; spaCy, parce qu’une expression régulière ne distingue pas un passif d’un passé composé.</a:t>
            </a:r>
          </a:p>
          <a:p>
            <a:r>
              <a:t>Le modèle spaCy est épinglé par URL dans requirements.txt : un simple pip install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Montrer que chaque étape a une seule responsabilité. Le cadre au-dessus : tout ce qui est dedans est caché derrière un seul appel.</a:t>
            </a:r>
          </a:p>
          <a:p>
            <a:r>
              <a:t>Si question sur la sécurité : surligner() échappe le HTML segment par segment avant d’insérer les balises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Lire l’arbre de haut en bas : Flask (routes, gabarits) en haut, le métier dans services/. Trois frontières : spaCy n’est importé que dans linguistics.py ; le SQL ne vit que dans repositories.py ; les règles reçoivent un Document, jamais Flask. Les règles sont rangées par langue dans des fichiers séparés, mais vivent toutes dans le même registre : c’est le moteur qui trie à l’exécution. Une langue non couverte ne lève rien, aucun KeyError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Exemple réel : dans le texte de démonstration, le passif « est publiée » occupe les caractères 321 à 332. Chaque couche transporte sa position par addition, elle ne la recherche jamais.</a:t>
            </a:r>
          </a:p>
          <a:p>
            <a:r>
              <a:t>Vérifié par test sur chaque paragraphe, phrase, token et signalement.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Sept lignes, mais c’est ce qui rend tout le reste mesurable : sans texte de référence unique, aucune position n’est fiable.</a:t>
            </a:r>
          </a:p>
          <a:p>
            <a:r>
              <a:t>Le tableau de droite donne les trois arguments à sortir si on demande « pourquoi normaliser ». Le plus parlant est l’apostrophe : sans elle, un lexique doit lister chaque mot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Trois lignes suffisent à dire l’essentiel : on découpe en paragraphes, pysbd découpe chaque paragraphe en phrases, et la position de la phrase est la somme des deux. Exemple réel, texte de démonstration : le deuxième paragraphe commence au caractère 285, sa deuxième phrase 49 caractères plus loin, donc à 334. Pourquoi pysbd et pas un découpage sur le point : « M. Dupont », « etc. », « 3,14 ». clean=False : on veut ses positions, pas sa réécriture. Le segmenteur est créé une seule fois, au chargement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Même idée qu’à la diapo précédente, un niveau plus bas : le paramètre offset. La fonction ne cherche jamais le mot dans le texte, elle additionne la position de la phrase et celle du mot dans la phrase. Exemple réel : la phrase « Afin d’assurer le suivi, une notice est publiée. » commence à 285 ; « est » est 36 caractères plus loin, donc à 321 — c’est le 321 de la règle d’or. Si on demande si spaCy ne tokenise pas déjà : si, pour lui-même. Sa sortie devient Sentence.analyse ; Sentence.tokens reste produit ici. « La décision a été prise. » fait 5 mots pour la règle de longueur et 6 tokens pour spaCy.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C’est la feature choisie parce qu’une expression régulière ne peut pas la faire. Une regex signale les quatre phrases ; une seule est un passif.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Sortie réelle de fr_core_news_sm sur cette phrase. Chaque mot pointe vers le mot dont il dépend ; « prise » est la racine.</a:t>
            </a:r>
          </a:p>
          <a:p>
            <a:r>
              <a:t>Sans « par le conseil », le modèle étiquette « été » en cop au lieu d’aux:pass : d’où le repli sur cop dans la règle.</a:t>
            </a:r>
          </a:p>
          <a:p>
            <a:r>
              <a:t>Le lemme est ce qui permet de reconnaître un verbe quelle que soit sa forme : c’est lui qu’on compare à la liste des verbes conjugués avec être, où figure « aller » et non « allée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règle n’importe pas spaCy : elle lit des TokenLinguistique, une dataclass maison. Remplacer spaCy ne toucherait que linguistics.py.</a:t>
            </a:r>
          </a:p>
          <a:p>
            <a:r>
              <a:t>L’empan va du premier auxiliaire au participe : « a été prise ».</a:t>
            </a:r>
          </a:p>
          <a:p>
            <a:r>
              <a:t>La question ③ est la dernière ajoutée : elle a supprimé les faux positifs sur les attributs, « est susceptible » ou « est nécessaire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Donner le chiffre franchement : 4 sur 6, contre 2 sur 6 avec les dépendances seules. Une heuristique, c’est une règle simple ajoutée par-dessus l’analyse de spaCy, parce qu’on connaît ses erreurs sur ce cas précis. ① rattrape un vrai passif manqué ; ② et ③ écartent des faux passifs. L’agent (obl:agent) ne change pas le score : il règle seulement la sévérité. Les deux échecs restants sont des attributs (état, adjectif) que le français ne distingue pas formellement du passif. Copule : le verbe « être » quand il relie un sujet à un attribut, comme dans « il est malade ». Les deux colonnes utilisent la même sortie de spaCy ; seule la règle appliquée par-dessus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plan a tenu : gel des fonctionnalités prononcé le mercredi 23, deux jours avant la date prévue ; depuis, uniquement des tests, de la documentation et la répétition. Tout ce qui est dans « Fait » a été montré en démonstration. Ordre de sacrifice, si la question tombe : conteneurisation, export, anglais, administration, règles supplémentaires. Jamais sacrifié : la chaîne, les trois règles, le surlignage, le passif, les tests. Les refus argumentés montrent qu’une réflexion a précédé 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0430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Revenir à la phrase du début. La version réécrite applique deux principes : un mot simple (P5) et un agent nommé (P8). C’est exactement ce que l’outil aide à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p.europa.eu/fr/publication-detail/-/publication/725b7eb0-d92e-11e5-8fea-01aa75ed71a1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SOUTENANCE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28750"/>
            <a:ext cx="108204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700" b="1" i="0">
                <a:solidFill>
                  <a:srgbClr val="13171B"/>
                </a:solidFill>
                <a:latin typeface="Segoe UI"/>
              </a:rPr>
              <a:t>Analyseur de langage clair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62250"/>
            <a:ext cx="7239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u="wavy">
                <a:solidFill>
                  <a:srgbClr val="13171B"/>
                </a:solidFill>
                <a:uFill>
                  <a:solidFill>
                    <a:srgbClr val="BF5F18"/>
                  </a:solidFill>
                </a:uFill>
                <a:latin typeface="Georgia"/>
              </a:rPr>
              <a:t>Afin d’</a:t>
            </a:r>
            <a:r>
              <a:rPr sz="2700" b="0" i="0">
                <a:solidFill>
                  <a:srgbClr val="13171B"/>
                </a:solidFill>
                <a:latin typeface="Georgia"/>
              </a:rPr>
              <a:t>assurer le suivi, une notice </a:t>
            </a:r>
            <a:r>
              <a:rPr sz="2700" b="0" i="0" u="sng">
                <a:solidFill>
                  <a:srgbClr val="13171B"/>
                </a:solidFill>
                <a:uFill>
                  <a:solidFill>
                    <a:srgbClr val="7446C9"/>
                  </a:solidFill>
                </a:uFill>
                <a:latin typeface="Georgia"/>
              </a:rPr>
              <a:t>est publiée</a:t>
            </a:r>
            <a:r>
              <a:rPr sz="2700" b="0" i="0">
                <a:solidFill>
                  <a:srgbClr val="13171B"/>
                </a:solidFill>
                <a:latin typeface="Georg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95750"/>
            <a:ext cx="1082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wavy">
                <a:solidFill>
                  <a:srgbClr val="13171B"/>
                </a:solidFill>
                <a:uFill>
                  <a:solidFill>
                    <a:srgbClr val="BF5F18"/>
                  </a:solidFill>
                </a:uFill>
                <a:latin typeface="Segoe UI"/>
              </a:rPr>
              <a:t>connecteur lourd</a:t>
            </a:r>
            <a:r>
              <a:rPr sz="1275" b="0" i="0">
                <a:solidFill>
                  <a:srgbClr val="56616A"/>
                </a:solidFill>
                <a:latin typeface="Segoe UI"/>
              </a:rPr>
              <a:t> — il existe plus simple        </a:t>
            </a:r>
            <a:r>
              <a:rPr sz="1275" b="0" i="0" u="sng">
                <a:solidFill>
                  <a:srgbClr val="13171B"/>
                </a:solidFill>
                <a:uFill>
                  <a:solidFill>
                    <a:srgbClr val="7446C9"/>
                  </a:solidFill>
                </a:uFill>
                <a:latin typeface="Segoe UI"/>
              </a:rPr>
              <a:t>passif sans agent</a:t>
            </a:r>
            <a:r>
              <a:rPr sz="1275" b="0" i="0">
                <a:solidFill>
                  <a:srgbClr val="56616A"/>
                </a:solidFill>
                <a:latin typeface="Segoe UI"/>
              </a:rPr>
              <a:t> — qui publie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4806572"/>
            <a:ext cx="1619250" cy="235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Louis Hubeaux</a:t>
            </a:r>
            <a:endParaRPr sz="1275" b="0" i="1" dirty="0">
              <a:solidFill>
                <a:srgbClr val="56616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81300" y="4762500"/>
            <a:ext cx="57150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Projet de fin de formation · Python /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QUI JE SUIS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" y="959276"/>
            <a:ext cx="2667000" cy="443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solidFill>
                  <a:srgbClr val="56616A"/>
                </a:solidFill>
                <a:latin typeface="Segoe UI"/>
              </a:rPr>
              <a:t>Louis Hubeaux</a:t>
            </a:r>
            <a:endParaRPr sz="2400" b="0" i="1" dirty="0">
              <a:solidFill>
                <a:srgbClr val="56616A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5350" y="2076450"/>
            <a:ext cx="4800600" cy="1098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425" b="1" i="0" dirty="0">
                <a:solidFill>
                  <a:srgbClr val="13171B"/>
                </a:solidFill>
                <a:latin typeface="Segoe UI"/>
              </a:rPr>
              <a:t>Mon </a:t>
            </a:r>
            <a:r>
              <a:rPr sz="1425" b="1" i="0" dirty="0" err="1">
                <a:solidFill>
                  <a:srgbClr val="13171B"/>
                </a:solidFill>
                <a:latin typeface="Segoe UI"/>
              </a:rPr>
              <a:t>parcours</a:t>
            </a:r>
            <a:endParaRPr sz="1425" b="1" i="0" dirty="0">
              <a:solidFill>
                <a:srgbClr val="13171B"/>
              </a:solidFill>
              <a:latin typeface="Segoe UI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75" i="1" dirty="0">
                <a:solidFill>
                  <a:srgbClr val="56616A"/>
                </a:solidFill>
                <a:latin typeface="Segoe UI"/>
              </a:rPr>
              <a:t>Double master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en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traduction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et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technologie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linguistique</a:t>
            </a:r>
            <a:r>
              <a:rPr sz="1275" b="0" i="1" dirty="0">
                <a:solidFill>
                  <a:srgbClr val="56616A"/>
                </a:solidFill>
                <a:latin typeface="Segoe UI"/>
              </a:rPr>
              <a:t>.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Expérience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en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tant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que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spécialiste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en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technologie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linguistique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dans les institutions </a:t>
            </a:r>
            <a:r>
              <a:rPr lang="en-US" sz="1275" b="0" i="1" dirty="0" err="1">
                <a:solidFill>
                  <a:srgbClr val="56616A"/>
                </a:solidFill>
                <a:latin typeface="Segoe UI"/>
              </a:rPr>
              <a:t>internationales</a:t>
            </a:r>
            <a:r>
              <a:rPr lang="en-US" sz="1275" b="0" i="1" dirty="0">
                <a:solidFill>
                  <a:srgbClr val="56616A"/>
                </a:solidFill>
                <a:latin typeface="Segoe UI"/>
              </a:rPr>
              <a:t> (Parlement EU, OMC).</a:t>
            </a:r>
            <a:endParaRPr sz="1275" b="0" i="1" dirty="0">
              <a:solidFill>
                <a:srgbClr val="56616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6050" y="2076450"/>
            <a:ext cx="4800600" cy="1098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425" b="1" i="0" dirty="0">
                <a:solidFill>
                  <a:srgbClr val="13171B"/>
                </a:solidFill>
                <a:latin typeface="Segoe UI"/>
              </a:rPr>
              <a:t>Mon lien avec le </a:t>
            </a:r>
            <a:r>
              <a:rPr sz="1425" b="1" i="0" dirty="0" err="1">
                <a:solidFill>
                  <a:srgbClr val="13171B"/>
                </a:solidFill>
                <a:latin typeface="Segoe UI"/>
              </a:rPr>
              <a:t>sujet</a:t>
            </a:r>
            <a:endParaRPr lang="fr-BE" sz="1425" b="1" i="0" dirty="0">
              <a:solidFill>
                <a:srgbClr val="13171B"/>
              </a:solidFill>
              <a:latin typeface="Segoe UI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BE" sz="1275" b="0" i="1" dirty="0">
                <a:solidFill>
                  <a:srgbClr val="56616A"/>
                </a:solidFill>
                <a:latin typeface="Segoe UI"/>
              </a:rPr>
              <a:t>Lors de mon stage au parlement européen j’ai participé à un projet mettant en avant le langage clair. </a:t>
            </a:r>
            <a:r>
              <a:rPr lang="fr-BE" sz="1275" i="1" dirty="0">
                <a:solidFill>
                  <a:srgbClr val="56616A"/>
                </a:solidFill>
                <a:latin typeface="Segoe UI"/>
              </a:rPr>
              <a:t>Étant donné mon lien avec les langues, j’ai décidé d’allier cela et le dev dans un seul projet.</a:t>
            </a:r>
            <a:endParaRPr lang="fr-BE" sz="1275" b="0" i="1" dirty="0">
              <a:solidFill>
                <a:srgbClr val="56616A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5350" y="3981450"/>
            <a:ext cx="4800600" cy="1098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425" b="1" i="0" dirty="0" err="1">
                <a:solidFill>
                  <a:srgbClr val="13171B"/>
                </a:solidFill>
                <a:latin typeface="Segoe UI"/>
              </a:rPr>
              <a:t>Pourquoi</a:t>
            </a:r>
            <a:r>
              <a:rPr sz="1425" b="1" i="0" dirty="0">
                <a:solidFill>
                  <a:srgbClr val="13171B"/>
                </a:solidFill>
                <a:latin typeface="Segoe UI"/>
              </a:rPr>
              <a:t> </a:t>
            </a:r>
            <a:r>
              <a:rPr sz="1425" b="1" i="0" dirty="0" err="1">
                <a:solidFill>
                  <a:srgbClr val="13171B"/>
                </a:solidFill>
                <a:latin typeface="Segoe UI"/>
              </a:rPr>
              <a:t>cette</a:t>
            </a:r>
            <a:r>
              <a:rPr sz="1425" b="1" i="0" dirty="0">
                <a:solidFill>
                  <a:srgbClr val="13171B"/>
                </a:solidFill>
                <a:latin typeface="Segoe UI"/>
              </a:rPr>
              <a:t> formation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75" i="1" dirty="0">
                <a:solidFill>
                  <a:srgbClr val="56616A"/>
                </a:solidFill>
                <a:latin typeface="Segoe UI"/>
              </a:rPr>
              <a:t>Au vu de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l’état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actuel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du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marché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de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l’emploi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en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traduction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en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Belgique,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j’ai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décidé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de me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réorienter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. En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outre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, Python est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énormément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utilisé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</a:t>
            </a:r>
            <a:r>
              <a:rPr lang="en-US" sz="1275" i="1" dirty="0" err="1">
                <a:solidFill>
                  <a:srgbClr val="56616A"/>
                </a:solidFill>
                <a:latin typeface="Segoe UI"/>
              </a:rPr>
              <a:t>en</a:t>
            </a:r>
            <a:r>
              <a:rPr lang="en-US" sz="1275" i="1" dirty="0">
                <a:solidFill>
                  <a:srgbClr val="56616A"/>
                </a:solidFill>
                <a:latin typeface="Segoe UI"/>
              </a:rPr>
              <a:t> NLP.</a:t>
            </a:r>
            <a:endParaRPr sz="1275" b="0" i="1" dirty="0">
              <a:solidFill>
                <a:srgbClr val="56616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6050" y="3981450"/>
            <a:ext cx="4800600" cy="843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425" b="1" i="0" dirty="0">
                <a:solidFill>
                  <a:srgbClr val="13171B"/>
                </a:solidFill>
                <a:latin typeface="Segoe UI"/>
              </a:rPr>
              <a:t>Ce </a:t>
            </a:r>
            <a:r>
              <a:rPr sz="1425" b="1" i="0" dirty="0" err="1">
                <a:solidFill>
                  <a:srgbClr val="13171B"/>
                </a:solidFill>
                <a:latin typeface="Segoe UI"/>
              </a:rPr>
              <a:t>que</a:t>
            </a:r>
            <a:r>
              <a:rPr sz="1425" b="1" i="0" dirty="0">
                <a:solidFill>
                  <a:srgbClr val="13171B"/>
                </a:solidFill>
                <a:latin typeface="Segoe UI"/>
              </a:rPr>
              <a:t> je vise ensuite</a:t>
            </a:r>
            <a:endParaRPr lang="fr-BE" sz="1425" b="1" i="0" dirty="0">
              <a:solidFill>
                <a:srgbClr val="13171B"/>
              </a:solidFill>
              <a:latin typeface="Segoe UI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BE" sz="1275" i="1" dirty="0">
                <a:solidFill>
                  <a:srgbClr val="56616A"/>
                </a:solidFill>
                <a:latin typeface="Segoe UI"/>
              </a:rPr>
              <a:t>Idéalement un poste de développeur junior ou un emploi dans le traitement des langues.</a:t>
            </a:r>
            <a:endParaRPr lang="fr-BE" sz="1275" b="0" i="1" dirty="0">
              <a:solidFill>
                <a:srgbClr val="56616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 PROJET ·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Un texte peut être correct et rester illisible.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00250"/>
            <a:ext cx="9334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wavy" dirty="0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Dans le cadre de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la mise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en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œuvre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du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dispositif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, et </a:t>
            </a:r>
            <a:r>
              <a:rPr sz="1875" b="0" i="0" u="wavy" dirty="0" err="1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conformément</a:t>
            </a:r>
            <a:r>
              <a:rPr sz="1875" b="0" i="0" u="wavy" dirty="0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 à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la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décision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du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comité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, </a:t>
            </a:r>
            <a:r>
              <a:rPr sz="1875" b="0" i="0" u="wavy" dirty="0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il </a:t>
            </a:r>
            <a:r>
              <a:rPr sz="1875" b="0" i="0" u="wavy" dirty="0" err="1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convient</a:t>
            </a:r>
            <a:r>
              <a:rPr sz="1875" b="0" i="0" u="wavy" dirty="0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 de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transmettre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u="wavy" dirty="0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au moyen de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la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plateforme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dédiée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l’ensemble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des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pièces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justificatives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u="wavy" dirty="0" err="1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préalablement</a:t>
            </a:r>
            <a:r>
              <a:rPr sz="1875" b="0" i="0" u="wavy" dirty="0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 à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l’examen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du dossier par les services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compétents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, </a:t>
            </a:r>
            <a:r>
              <a:rPr sz="1875" b="0" i="0" u="wavy" dirty="0" err="1">
                <a:solidFill>
                  <a:srgbClr val="13171B"/>
                </a:solidFill>
                <a:highlight>
                  <a:srgbClr val="D3E4EA"/>
                </a:highlight>
                <a:uFill>
                  <a:solidFill>
                    <a:srgbClr val="BF5F18"/>
                  </a:solidFill>
                </a:uFill>
                <a:latin typeface="Georgia"/>
              </a:rPr>
              <a:t>nonobstant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les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délais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 </a:t>
            </a:r>
            <a:r>
              <a:rPr sz="1875" b="0" i="0" dirty="0" err="1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annoncés</a:t>
            </a:r>
            <a:r>
              <a:rPr sz="1875" b="0" i="0" dirty="0">
                <a:solidFill>
                  <a:srgbClr val="13171B"/>
                </a:solidFill>
                <a:highlight>
                  <a:srgbClr val="D3E4EA"/>
                </a:highlight>
                <a:latin typeface="Georgia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476750"/>
            <a:ext cx="323850" cy="114300"/>
          </a:xfrm>
          <a:prstGeom prst="rect">
            <a:avLst/>
          </a:prstGeom>
          <a:solidFill>
            <a:srgbClr val="D3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3950" y="441960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3171B"/>
                </a:solidFill>
                <a:latin typeface="Consolas"/>
              </a:rPr>
              <a:t>1</a:t>
            </a:r>
            <a:r>
              <a:rPr sz="1275" b="0" i="0">
                <a:solidFill>
                  <a:srgbClr val="13171B"/>
                </a:solidFill>
                <a:latin typeface="Segoe UI"/>
              </a:rPr>
              <a:t> phrase de 44 mots — le seuil est de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876800"/>
            <a:ext cx="323850" cy="28575"/>
          </a:xfrm>
          <a:prstGeom prst="rect">
            <a:avLst/>
          </a:prstGeom>
          <a:solidFill>
            <a:srgbClr val="BF5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3950" y="476250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3171B"/>
                </a:solidFill>
                <a:latin typeface="Consolas"/>
              </a:rPr>
              <a:t>6</a:t>
            </a:r>
            <a:r>
              <a:rPr sz="1275" b="0" i="0">
                <a:solidFill>
                  <a:srgbClr val="13171B"/>
                </a:solidFill>
                <a:latin typeface="Segoe UI"/>
              </a:rPr>
              <a:t> locutions administratives qui ont un équivalent simple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 PROJET · LE SUJET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95250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Une application web qui montre, dans le texte, ce qui nuit à sa clarté.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622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895600"/>
            <a:ext cx="33528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UN RÉFÉRENTIEL EXISTANT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62300"/>
            <a:ext cx="3352800" cy="285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75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Les dix principes de 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750"/>
              </a:spcAft>
            </a:pPr>
            <a:r>
              <a:rPr sz="1275" b="0" i="1">
                <a:solidFill>
                  <a:srgbClr val="56616A"/>
                </a:solidFill>
                <a:latin typeface="Segoe UI"/>
              </a:rPr>
              <a:t>Comment écrire clairement</a:t>
            </a:r>
            <a:r>
              <a:rPr sz="1275" b="0" i="0">
                <a:solidFill>
                  <a:srgbClr val="56616A"/>
                </a:solidFill>
                <a:latin typeface="Segoe UI"/>
              </a:rPr>
              <a:t>, le guide de rédaction de la Commission européenne. Des critères publiés et citables, pas inventés pour l’occasion.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27622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9600" y="2895600"/>
            <a:ext cx="33528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MON EXPÉRIENCE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3162300"/>
            <a:ext cx="3352800" cy="285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75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850" y="3340632"/>
            <a:ext cx="3162300" cy="5005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BE" sz="1275" b="0" i="1" noProof="0" dirty="0">
                <a:solidFill>
                  <a:srgbClr val="56616A"/>
                </a:solidFill>
                <a:latin typeface="Segoe UI"/>
              </a:rPr>
              <a:t>Lors de mes contrats dans les institutions internationales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400" y="27622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3400" y="2895600"/>
            <a:ext cx="33528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UNE DÉMONSTRATION IMMÉDIATE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3162300"/>
            <a:ext cx="3352800" cy="285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75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On colle un texte, on clique, les défauts apparaissent surlignés. Le résultat se voit sans explication.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 PROJET · LE RÉFÉRENTIEL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Dix principes, trois détectés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783080"/>
            <a:ext cx="3392424" cy="2606040"/>
          </a:xfrm>
          <a:prstGeom prst="rect">
            <a:avLst/>
          </a:prstGeom>
          <a:noFill/>
          <a:ln w="19050">
            <a:solidFill>
              <a:srgbClr val="13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984248"/>
            <a:ext cx="2935224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4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171B"/>
                </a:solidFill>
                <a:highlight>
                  <a:srgbClr val="D3E4EA"/>
                </a:highlight>
                <a:latin typeface="Segoe UI"/>
              </a:rPr>
              <a:t>Faire court et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29352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Règle livrée · longueur_phrase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1783080"/>
            <a:ext cx="3392424" cy="2606040"/>
          </a:xfrm>
          <a:prstGeom prst="rect">
            <a:avLst/>
          </a:prstGeom>
          <a:noFill/>
          <a:ln w="19050">
            <a:solidFill>
              <a:srgbClr val="13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6864" y="1984248"/>
            <a:ext cx="2935224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5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wavy">
                <a:solidFill>
                  <a:srgbClr val="13171B"/>
                </a:solidFill>
                <a:uFill>
                  <a:solidFill>
                    <a:srgbClr val="BF5F18"/>
                  </a:solidFill>
                </a:uFill>
                <a:latin typeface="Segoe UI"/>
              </a:rPr>
              <a:t>Choisir des mots simples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3977639"/>
            <a:ext cx="29352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Règle livrée · connecteurs_lourds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0727" y="1783080"/>
            <a:ext cx="3392424" cy="2606040"/>
          </a:xfrm>
          <a:prstGeom prst="rect">
            <a:avLst/>
          </a:prstGeom>
          <a:noFill/>
          <a:ln w="19050">
            <a:solidFill>
              <a:srgbClr val="13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7" y="1984248"/>
            <a:ext cx="2935224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8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sng">
                <a:solidFill>
                  <a:srgbClr val="13171B"/>
                </a:solidFill>
                <a:uFill>
                  <a:solidFill>
                    <a:srgbClr val="7446C9"/>
                  </a:solidFill>
                </a:uFill>
                <a:latin typeface="Segoe UI"/>
              </a:rPr>
              <a:t>Préciser qui fait quoi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977639"/>
            <a:ext cx="29352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Règle livrée · passif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880360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Une phrase de plus de 25 mots est signalée, avec sa longueur.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2880360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16 locutions administratives, chacune avec son équivalent simple.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2880360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Un passif sans agent cache qui décide : il est signalé plus fort.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Chaque signalement affiche son principe : </a:t>
            </a:r>
            <a:r>
              <a:rPr lang="fr-FR" sz="1500" b="1" i="0">
                <a:solidFill>
                  <a:srgbClr val="13171B"/>
                </a:solidFill>
                <a:latin typeface="Segoe UI"/>
                <a:cs typeface="Segoe UI"/>
              </a:rPr>
              <a:t>« P8 — préciser qui fait quoi »</a:t>
            </a: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. Les sept autres principes : diapo suivante.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 PROJET · LE RÉFÉRENTIEL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Les sept autres principes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160520"/>
            <a:ext cx="2072640" cy="1543050"/>
          </a:xfrm>
          <a:prstGeom prst="rect">
            <a:avLst/>
          </a:prstGeom>
          <a:noFill/>
          <a:ln w="9525">
            <a:solidFill>
              <a:srgbClr val="D0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7024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1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Réfléchir avant d’écrire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7667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Jugement du rédacteur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1216" y="4160520"/>
            <a:ext cx="2072640" cy="1543050"/>
          </a:xfrm>
          <a:prstGeom prst="rect">
            <a:avLst/>
          </a:prstGeom>
          <a:noFill/>
          <a:ln w="9525">
            <a:solidFill>
              <a:srgbClr val="D0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08376" y="427024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2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Penser au lecteur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8376" y="537667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Jugement du rédacteur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6632" y="4160520"/>
            <a:ext cx="2072640" cy="1543050"/>
          </a:xfrm>
          <a:prstGeom prst="rect">
            <a:avLst/>
          </a:prstGeom>
          <a:noFill/>
          <a:ln w="9525">
            <a:solidFill>
              <a:srgbClr val="D0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427024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3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Structurer le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537667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Jugement du rédacteur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011680"/>
            <a:ext cx="2072640" cy="1543050"/>
          </a:xfrm>
          <a:prstGeom prst="rect">
            <a:avLst/>
          </a:prstGeom>
          <a:noFill/>
          <a:ln w="19050">
            <a:solidFill>
              <a:srgbClr val="5661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12140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6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171B"/>
                </a:solidFill>
                <a:latin typeface="Segoe UI"/>
              </a:rPr>
              <a:t>Alléger les noms, préférer les verbes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2783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Piste · nominalisations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4160520"/>
            <a:ext cx="2072640" cy="1543050"/>
          </a:xfrm>
          <a:prstGeom prst="rect">
            <a:avLst/>
          </a:prstGeom>
          <a:noFill/>
          <a:ln w="9525">
            <a:solidFill>
              <a:srgbClr val="D0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9208" y="427024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7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Être concret plutôt qu’abstrait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537667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Jugement du rédacteur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6" y="2011680"/>
            <a:ext cx="2072640" cy="1543050"/>
          </a:xfrm>
          <a:prstGeom prst="rect">
            <a:avLst/>
          </a:prstGeom>
          <a:noFill/>
          <a:ln w="19050">
            <a:solidFill>
              <a:srgbClr val="5661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08376" y="212140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9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171B"/>
                </a:solidFill>
                <a:latin typeface="Segoe UI"/>
              </a:rPr>
              <a:t>Éviter le jargon et les abréviations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8376" y="322783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Piste · jargon, sigles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27464" y="4160520"/>
            <a:ext cx="2072640" cy="1543050"/>
          </a:xfrm>
          <a:prstGeom prst="rect">
            <a:avLst/>
          </a:prstGeom>
          <a:noFill/>
          <a:ln w="9525">
            <a:solidFill>
              <a:srgbClr val="D0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64624" y="4270248"/>
            <a:ext cx="180594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10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Relire et vérifier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5376672"/>
            <a:ext cx="18059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Segoe UI"/>
              </a:rPr>
              <a:t>Jugement du rédacteur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975" b="1" i="0">
                <a:solidFill>
                  <a:srgbClr val="56616A"/>
                </a:solidFill>
                <a:latin typeface="Segoe UI"/>
                <a:cs typeface="Segoe UI"/>
              </a:rPr>
              <a:t>PISTES D’EXTENSION</a:t>
            </a:r>
            <a:r>
              <a:rPr lang="fr-FR" sz="975" b="0" i="0">
                <a:solidFill>
                  <a:srgbClr val="56616A"/>
                </a:solidFill>
                <a:latin typeface="Segoe UI"/>
                <a:cs typeface="Segoe UI"/>
              </a:rPr>
              <a:t>   détectables, pas encore livrées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2103120"/>
            <a:ext cx="63825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Ils laissent une trace mesurable : un nom en « -tion » à la place d’un verbe, un sigle jamais développé.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Même moteur : une classe de règle et une ligne dans REGLES.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84048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975" b="1" i="0">
                <a:solidFill>
                  <a:srgbClr val="56616A"/>
                </a:solidFill>
                <a:latin typeface="Segoe UI"/>
                <a:cs typeface="Segoe UI"/>
              </a:rPr>
              <a:t>JUGEMENT DU RÉDACTEUR</a:t>
            </a:r>
            <a:r>
              <a:rPr lang="fr-FR" sz="975" b="0" i="0">
                <a:solidFill>
                  <a:srgbClr val="56616A"/>
                </a:solidFill>
                <a:latin typeface="Segoe UI"/>
                <a:cs typeface="Segoe UI"/>
              </a:rPr>
              <a:t>   hors de portée d’une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 PROJET · PUBLIC ET 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8250"/>
            <a:ext cx="52197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POUR 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2197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— </a:t>
            </a:r>
            <a:r>
              <a:rPr sz="1500" b="0" i="0">
                <a:solidFill>
                  <a:srgbClr val="13171B"/>
                </a:solidFill>
                <a:latin typeface="Segoe UI"/>
              </a:rPr>
              <a:t>Les agents publics qui rédigent courriers, notices et formulaires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— </a:t>
            </a:r>
            <a:r>
              <a:rPr sz="1500" b="0" i="0">
                <a:solidFill>
                  <a:srgbClr val="13171B"/>
                </a:solidFill>
                <a:latin typeface="Segoe UI"/>
              </a:rPr>
              <a:t>Les services de communication des institutions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— </a:t>
            </a:r>
            <a:r>
              <a:rPr sz="1500" b="0" i="0">
                <a:solidFill>
                  <a:srgbClr val="13171B"/>
                </a:solidFill>
                <a:latin typeface="Segoe UI"/>
              </a:rPr>
              <a:t>Les juristes qui écrivent pour le grand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38500"/>
            <a:ext cx="5219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Et, indirectement, les usagers qui doivent comprendre ces textes pour faire valoir leurs droits.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1238250"/>
            <a:ext cx="52197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OBJECTIF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600200"/>
            <a:ext cx="52197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13171B"/>
                </a:solidFill>
                <a:latin typeface="Segoe UI"/>
              </a:rPr>
              <a:t>Montrer l’endroit du problème, pas donner une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238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75" b="0" i="0" strike="sngStrike">
                <a:solidFill>
                  <a:srgbClr val="56616A"/>
                </a:solidFill>
                <a:latin typeface="Consolas"/>
              </a:rPr>
              <a:t>73/100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200400"/>
            <a:ext cx="35052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Toute pondération serait arbitraire. Un score invite à optimiser un chiffre ; un surlignage invite à relire.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 PROJET ·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Démonstration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755648"/>
            <a:ext cx="247650" cy="2476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755648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FBFCFC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3736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1" i="0">
                <a:solidFill>
                  <a:srgbClr val="13171B"/>
                </a:solidFill>
                <a:latin typeface="Segoe UI"/>
                <a:cs typeface="Segoe UI"/>
              </a:rPr>
              <a:t>Analyser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deux paragraphes : les trois règles se déclenchent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542032"/>
            <a:ext cx="247650" cy="2476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2542032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FBFCFC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523744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1" i="0">
                <a:solidFill>
                  <a:srgbClr val="13171B"/>
                </a:solidFill>
                <a:latin typeface="Segoe UI"/>
                <a:cs typeface="Segoe UI"/>
              </a:rPr>
              <a:t>Cliquer un surlignage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la fiche s’ouvre, avec son principe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328416"/>
            <a:ext cx="247650" cy="2476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328416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FBFCFC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310128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1" i="0">
                <a:solidFill>
                  <a:srgbClr val="13171B"/>
                </a:solidFill>
                <a:latin typeface="Segoe UI"/>
                <a:cs typeface="Segoe UI"/>
              </a:rPr>
              <a:t>Listes de mots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ajouter « à cet égard », relancer : signalé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114800"/>
            <a:ext cx="247650" cy="2476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4114800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FBFCFC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4096512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1" i="0">
                <a:solidFill>
                  <a:srgbClr val="13171B"/>
                </a:solidFill>
                <a:latin typeface="Segoe UI"/>
                <a:cs typeface="Segoe UI"/>
              </a:rPr>
              <a:t>Enregistrer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sous un nom, puis relire : surlignage identique</a:t>
            </a:r>
          </a:p>
        </p:txBody>
      </p:sp>
      <p:pic>
        <p:nvPicPr>
          <p:cNvPr id="20" name="Capture analyse" descr="demo_resul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19072"/>
            <a:ext cx="6583680" cy="22875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85800" y="4251960"/>
            <a:ext cx="3154680" cy="18288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379976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975" b="1" i="0">
                <a:solidFill>
                  <a:srgbClr val="56616A"/>
                </a:solidFill>
                <a:latin typeface="Segoe UI"/>
                <a:cs typeface="Segoe UI"/>
              </a:rPr>
              <a:t>AVANT DE COMMENCER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13171B"/>
                </a:solidFill>
                <a:latin typeface="Consolas"/>
                <a:cs typeface="Consolas"/>
              </a:rPr>
              <a:t>flask run</a:t>
            </a: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, puis une analyse à blanc : spaCy se charge en deux secondes.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251960"/>
            <a:ext cx="3154680" cy="18288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4379976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975" b="1" i="0">
                <a:solidFill>
                  <a:srgbClr val="56616A"/>
                </a:solidFill>
                <a:latin typeface="Segoe UI"/>
                <a:cs typeface="Segoe UI"/>
              </a:rPr>
              <a:t>PLAN B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Cette capture, puis </a:t>
            </a:r>
            <a:r>
              <a:rPr lang="fr-FR" sz="1200" b="0" i="0">
                <a:solidFill>
                  <a:srgbClr val="13171B"/>
                </a:solidFill>
                <a:latin typeface="Consolas"/>
                <a:cs typeface="Consolas"/>
              </a:rPr>
              <a:t>pytest</a:t>
            </a: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 en direct : 48 tests en trois secondes.</a:t>
            </a:r>
          </a:p>
        </p:txBody>
      </p:sp>
      <p:sp>
        <p:nvSpPr>
          <p:cNvPr id="26" name="Rectangle 7"/>
          <p:cNvSpPr/>
          <p:nvPr/>
        </p:nvSpPr>
        <p:spPr>
          <a:xfrm>
            <a:off x="7635240" y="4901183"/>
            <a:ext cx="247650" cy="2476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8"/>
          <p:cNvSpPr txBox="1"/>
          <p:nvPr/>
        </p:nvSpPr>
        <p:spPr>
          <a:xfrm>
            <a:off x="7635240" y="4901183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FBFCFC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019288" y="4882896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1" i="0">
                <a:solidFill>
                  <a:srgbClr val="13171B"/>
                </a:solidFill>
                <a:latin typeface="Segoe UI"/>
                <a:cs typeface="Segoe UI"/>
              </a:rPr>
              <a:t>Importer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notification.docx, puis un .pdf : refus expliqué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Stack technique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66875"/>
          <a:ext cx="10820400" cy="40621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Rôle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Outil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Pourquoi celui-là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Langage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Python 3.14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L’écosystème de traitement du langage est en Python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Web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Flask 3.1 · Jinja2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Léger et explicite : l’architecture reste lisible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Données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SQLAlchemy · Alembic · SQLite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ORM, migrations versionnées, zéro configuration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Phrases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pysbd 0.3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Ne coupe pas sur « M. », « etc. » ni « 3,14 »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Grammaire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spaCy 3.8 · fr_core_news_sm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Analyse en dépendances : indispensable pour le passif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HTML · CSS · JS natif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Une page, une trentaine de lignes de script, aucun framework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pytest 9.1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48 tests en 3 secondes, lançables en direct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Import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Segoe UI"/>
                        </a:rPr>
                        <a:t>python-docx · odfpy · charset-normalizer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Segoe UI"/>
                        </a:rPr>
                        <a:t>Lire .docx et .odt, deviner l’encodage d’un .txt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ARCHITECTURE · LA CHAÎNE DE TRAITEMENT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Du texte brut au surlignage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66875"/>
            <a:ext cx="10820400" cy="285750"/>
          </a:xfrm>
          <a:prstGeom prst="rect">
            <a:avLst/>
          </a:prstGeom>
          <a:noFill/>
          <a:ln w="19050">
            <a:solidFill>
              <a:srgbClr val="006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100" y="1666875"/>
            <a:ext cx="105918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006F8A"/>
                </a:solidFill>
                <a:latin typeface="Consolas"/>
              </a:rPr>
              <a:t>build_document(texte_brut, langue="fr")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66925"/>
            <a:ext cx="19354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normalize()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apostrophes, espaces insécables, accents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9880" y="1952625"/>
            <a:ext cx="9525" cy="914400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64180" y="2066925"/>
            <a:ext cx="19354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segment()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paragraphes, puis phrases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3960" y="1952625"/>
            <a:ext cx="9525" cy="914400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8260" y="2066925"/>
            <a:ext cx="19354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tokenize()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mots avec leur position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952625"/>
            <a:ext cx="9525" cy="914400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2340" y="2066925"/>
            <a:ext cx="19354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7446C9"/>
                </a:solidFill>
                <a:latin typeface="Consolas"/>
              </a:rPr>
              <a:t>analyser_phrases()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spaCy, phrase par phrase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2120" y="1952625"/>
            <a:ext cx="9525" cy="914400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56420" y="2066925"/>
            <a:ext cx="19354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Document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l’objet reçu par les règles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48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6616A"/>
                </a:solidFill>
                <a:latin typeface="Consolas"/>
              </a:rPr>
              <a:t>puis, dans la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90900"/>
            <a:ext cx="193548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run(document)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toutes les règles → Finding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9880" y="3333750"/>
            <a:ext cx="9525" cy="857250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180" y="3390900"/>
            <a:ext cx="193548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surligner()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échappe, puis balise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3960" y="3333750"/>
            <a:ext cx="9525" cy="857250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8260" y="3390900"/>
            <a:ext cx="193548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 i="0">
                <a:solidFill>
                  <a:srgbClr val="13171B"/>
                </a:solidFill>
                <a:latin typeface="Consolas"/>
              </a:rPr>
              <a:t>template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texte et fiches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572000"/>
            <a:ext cx="52197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705350"/>
            <a:ext cx="52197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UN SEUL POINT D’ENTRÉE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72050"/>
            <a:ext cx="5219700" cy="285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750"/>
              </a:spcAft>
            </a:pPr>
            <a:r>
              <a:rPr sz="1425" b="0" i="0">
                <a:solidFill>
                  <a:srgbClr val="56616A"/>
                </a:solidFill>
                <a:latin typeface="Segoe UI"/>
              </a:rPr>
              <a:t>La normalisation se fait une fois. Le texte normalisé devient l’unique référence : impossible de construire un Document sur un autre texte.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6500" y="4572000"/>
            <a:ext cx="52197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6500" y="4705350"/>
            <a:ext cx="52197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MESURÉ, PAS SUPPOSÉ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4972050"/>
            <a:ext cx="5219700" cy="285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750"/>
              </a:spcAft>
            </a:pPr>
            <a:r>
              <a:rPr sz="1425" b="0" i="0">
                <a:solidFill>
                  <a:srgbClr val="56616A"/>
                </a:solidFill>
                <a:latin typeface="Segoe UI"/>
              </a:rPr>
              <a:t>Laissé seul, spaCy fusionne un titre avec la phrase suivante. pysbd découpe ; spaCy n’analyse que des phrases déjà isolées.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ARCHITECTURE · 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4937760" cy="3638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app/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__init__.py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create_app(), /health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config.py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configuration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cli.py 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flask seed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models/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5 modèles SQLAlchemy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repositories.py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tout le SQL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routes/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analyze.py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analyser, enregistrer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└── admin.py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listes de mots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templates/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base, analyze/, admin/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static/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style.css, app.js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└── services/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27448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Consolas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4709160"/>
            <a:ext cx="448056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Deux registres, un seul motif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REGLES pour les règles, REGISTRE pour les formats : ajouter = une ligne.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96128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Consolas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5577840"/>
            <a:ext cx="448056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Le tri se fait à l’exécution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Chaque règle dit si elle s’applique à la langue ; run() trie les signalements.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Un dossier, une responsabilité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737360"/>
            <a:ext cx="560527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services/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ingestion/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normalization.py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Unicode, espaces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segmentation.py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paragraphes, phrases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tokenization.py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mots + positions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linguistics.py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seul import de spaCy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└── document.py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build_document()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rendering.py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échapper, surligner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├── extraction/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base.py 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contrat, erreurs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├── registry.py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REGISTRE, extraire()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│   └── txt · md · docx · odt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└── rules/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    ├── base.py 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Finding, Rule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    ├── runner.py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REGLES, run()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    ├── seuils.py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seuils par langue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    ├── lexiques.py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listes lues en base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    ├── fr.py   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les trois règles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0">
                <a:solidFill>
                  <a:srgbClr val="13171B"/>
                </a:solidFill>
                <a:latin typeface="Consolas"/>
                <a:cs typeface="Consolas"/>
              </a:rPr>
              <a:t>    └── en.py             </a:t>
            </a:r>
            <a:r>
              <a:rPr lang="fr-FR" sz="1050" b="0" i="0">
                <a:solidFill>
                  <a:srgbClr val="56616A"/>
                </a:solidFill>
                <a:latin typeface="Consolas"/>
                <a:cs typeface="Consolas"/>
              </a:rPr>
              <a:t>vide : l’anglais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ARCHITECTURE · LA RÈGLE D’OR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Un signalement est un endroit. Il doit être exact.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05000"/>
            <a:ext cx="10820400" cy="704850"/>
          </a:xfrm>
          <a:prstGeom prst="rect">
            <a:avLst/>
          </a:prstGeom>
          <a:solidFill>
            <a:srgbClr val="17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05000"/>
            <a:ext cx="10363200" cy="704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E4E4E4"/>
                </a:solidFill>
                <a:latin typeface="Consolas"/>
              </a:rPr>
              <a:t>document.texte[start:end] </a:t>
            </a:r>
            <a:r>
              <a:rPr sz="2250" b="1" i="0">
                <a:solidFill>
                  <a:srgbClr val="F0A46A"/>
                </a:solidFill>
                <a:latin typeface="Consolas"/>
              </a:rPr>
              <a:t>==</a:t>
            </a:r>
            <a:r>
              <a:rPr sz="2250" b="1" i="0">
                <a:solidFill>
                  <a:srgbClr val="E4E4E4"/>
                </a:solidFill>
                <a:latin typeface="Consolas"/>
              </a:rPr>
              <a:t> fragment.texte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52750"/>
            <a:ext cx="1082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13171B"/>
                </a:solidFill>
                <a:latin typeface="Consolas"/>
              </a:rPr>
              <a:t>une notice </a:t>
            </a:r>
            <a:r>
              <a:rPr sz="2250" b="0" i="0" u="sng">
                <a:solidFill>
                  <a:srgbClr val="13171B"/>
                </a:solidFill>
                <a:uFill>
                  <a:solidFill>
                    <a:srgbClr val="7446C9"/>
                  </a:solidFill>
                </a:uFill>
                <a:latin typeface="Consolas"/>
              </a:rPr>
              <a:t>est publiée</a:t>
            </a:r>
            <a:r>
              <a:rPr sz="2250" b="0" i="0">
                <a:solidFill>
                  <a:srgbClr val="13171B"/>
                </a:solidFill>
                <a:latin typeface="Consola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9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9825" y="33909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7446C9"/>
                </a:solidFill>
                <a:latin typeface="Consolas"/>
              </a:rPr>
              <a:t>321 → 332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191000"/>
            <a:ext cx="5219700" cy="19050"/>
          </a:xfrm>
          <a:prstGeom prst="rect">
            <a:avLst/>
          </a:prstGeom>
          <a:solidFill>
            <a:srgbClr val="B2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52197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3171B"/>
                </a:solidFill>
                <a:latin typeface="Consolas"/>
              </a:rPr>
              <a:t>texte.find(phrase)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16A"/>
                </a:solidFill>
                <a:latin typeface="Segoe UI"/>
              </a:rPr>
              <a:t>Retombe sur la première occurrence dès qu’une phrase se répète.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6500" y="4191000"/>
            <a:ext cx="5219700" cy="19050"/>
          </a:xfrm>
          <a:prstGeom prst="rect">
            <a:avLst/>
          </a:prstGeom>
          <a:solidFill>
            <a:srgbClr val="B2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6500" y="4343400"/>
            <a:ext cx="52197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3171B"/>
                </a:solidFill>
                <a:latin typeface="Consolas"/>
              </a:rPr>
              <a:t>somme des longueurs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16A"/>
                </a:solidFill>
                <a:latin typeface="Segoe UI"/>
              </a:rPr>
              <a:t>Dérive de 2 caractères à chaque ligne vide entre paragraphes.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LE NETTOYAGE DU 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Six transformations, une seule fois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14500"/>
            <a:ext cx="7429500" cy="2293620"/>
          </a:xfrm>
          <a:prstGeom prst="rect">
            <a:avLst/>
          </a:prstGeom>
          <a:solidFill>
            <a:srgbClr val="17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1866900"/>
            <a:ext cx="7124700" cy="198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C9A6FF"/>
                </a:solidFill>
                <a:latin typeface="Consolas"/>
              </a:rPr>
              <a:t>def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 </a:t>
            </a:r>
            <a:r>
              <a:rPr sz="1125" b="0" i="0">
                <a:solidFill>
                  <a:srgbClr val="6CCFE6"/>
                </a:solidFill>
                <a:latin typeface="Consolas"/>
              </a:rPr>
              <a:t>normalize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(texte: </a:t>
            </a:r>
            <a:r>
              <a:rPr sz="1125" b="0" i="0">
                <a:solidFill>
                  <a:srgbClr val="C9A6FF"/>
                </a:solidFill>
                <a:latin typeface="Consolas"/>
              </a:rPr>
              <a:t>str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 -&gt; </a:t>
            </a:r>
            <a:r>
              <a:rPr sz="1125" b="0" i="0">
                <a:solidFill>
                  <a:srgbClr val="C9A6FF"/>
                </a:solidFill>
                <a:latin typeface="Consolas"/>
              </a:rPr>
              <a:t>str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: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texte = texte.lstrip(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"\ufeff"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                            </a:t>
            </a:r>
            <a:r>
              <a:rPr sz="1125" b="0" i="0">
                <a:solidFill>
                  <a:srgbClr val="8D949D"/>
                </a:solidFill>
                <a:latin typeface="Consolas"/>
              </a:rPr>
              <a:t># BOM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texte = texte.replace(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"\r\n"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"\n"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).replace(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"\r"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"\n"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   </a:t>
            </a:r>
            <a:r>
              <a:rPr sz="1125" b="0" i="0">
                <a:solidFill>
                  <a:srgbClr val="8D949D"/>
                </a:solidFill>
                <a:latin typeface="Consolas"/>
              </a:rPr>
              <a:t># fins de ligne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texte = unicodedata.</a:t>
            </a:r>
            <a:r>
              <a:rPr sz="1125" b="0" i="0">
                <a:solidFill>
                  <a:srgbClr val="6CCFE6"/>
                </a:solidFill>
                <a:latin typeface="Consolas"/>
              </a:rPr>
              <a:t>normalize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"NFC"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texte)               </a:t>
            </a:r>
            <a:r>
              <a:rPr sz="1125" b="0" i="0">
                <a:solidFill>
                  <a:srgbClr val="8D949D"/>
                </a:solidFill>
                <a:latin typeface="Consolas"/>
              </a:rPr>
              <a:t># e + accent donne é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texte = texte.replace(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"\u00AD"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                       </a:t>
            </a:r>
            <a:r>
              <a:rPr sz="1125" b="0" i="0">
                <a:solidFill>
                  <a:srgbClr val="8D949D"/>
                </a:solidFill>
                <a:latin typeface="Consolas"/>
              </a:rPr>
              <a:t># césure invisible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texte = texte.replace(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"\u2019"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"'"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                      </a:t>
            </a:r>
            <a:r>
              <a:rPr sz="1125" b="0" i="0">
                <a:solidFill>
                  <a:srgbClr val="8D949D"/>
                </a:solidFill>
                <a:latin typeface="Consolas"/>
              </a:rPr>
              <a:t># apostrophe courbe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texte = texte.replace(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"\u00A0"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 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).replace(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"\u202F"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, </a:t>
            </a:r>
            <a:r>
              <a:rPr sz="1125" b="0" i="0">
                <a:solidFill>
                  <a:srgbClr val="F0A46A"/>
                </a:solidFill>
                <a:latin typeface="Consolas"/>
              </a:rPr>
              <a:t>" "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)  </a:t>
            </a:r>
            <a:r>
              <a:rPr sz="1125" b="0" i="0">
                <a:solidFill>
                  <a:srgbClr val="8D949D"/>
                </a:solidFill>
                <a:latin typeface="Consolas"/>
              </a:rPr>
              <a:t># insécables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E4E4E4"/>
                </a:solidFill>
                <a:latin typeface="Consolas"/>
              </a:rPr>
              <a:t>    </a:t>
            </a:r>
            <a:r>
              <a:rPr sz="1125" b="0" i="0">
                <a:solidFill>
                  <a:srgbClr val="C9A6FF"/>
                </a:solidFill>
                <a:latin typeface="Consolas"/>
              </a:rPr>
              <a:t>return</a:t>
            </a:r>
            <a:r>
              <a:rPr sz="1125" b="0" i="0">
                <a:solidFill>
                  <a:srgbClr val="E4E4E4"/>
                </a:solidFill>
                <a:latin typeface="Consolas"/>
              </a:rPr>
              <a:t> 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01050" y="171450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01050" y="182880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ICI, ET NULLE PART AILLEURS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1050" y="2076450"/>
            <a:ext cx="31051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build_document() appelle normalize() en premier. Le texte normalisé devient la référence, et c’est lui qui est réaffiché au lecteur.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1050" y="314325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01050" y="325755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CE QUE ÇA ÉVITE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1050" y="3505200"/>
            <a:ext cx="31051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Un « é » écrit en deux caractères en compte deux. Un \r\n décale toutes les positions d’un caractère par ligne.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1050" y="447675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1050" y="459105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CE QUE ÇA REND 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1050" y="4838700"/>
            <a:ext cx="31051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« l’ensemble » et « l’ensemble » deviennent le même mot : les lexiques n’ont plus qu’une orthographe à connaître.</a:t>
            </a:r>
          </a:p>
        </p:txBody>
      </p:sp>
      <p:graphicFrame>
        <p:nvGraphicFramePr>
          <p:cNvPr id="15" name="Tableau pourquoi"/>
          <p:cNvGraphicFramePr>
            <a:graphicFrameLocks noGrp="1"/>
          </p:cNvGraphicFramePr>
          <p:nvPr/>
        </p:nvGraphicFramePr>
        <p:xfrm>
          <a:off x="685800" y="4230000"/>
          <a:ext cx="7429500" cy="2120000"/>
        </p:xfrm>
        <a:graphic>
          <a:graphicData uri="http://schemas.openxmlformats.org/drawingml/2006/table">
            <a:tbl>
              <a:tblPr firstRow="1"/>
              <a:tblGrid>
                <a:gridCol w="132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r>
                        <a:rPr lang="fr-FR" sz="975" b="1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TRANSFORMATION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3171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975" b="1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D'OÙ VIENT LE CARACTÈRE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3171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975" b="1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CE QU'IL CASSERAIT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3171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13171B"/>
                          </a:solidFill>
                          <a:latin typeface="Segoe UI"/>
                          <a:cs typeface="Segoe UI"/>
                        </a:rPr>
                        <a:t>BOM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317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un .txt UTF-8 du Bloc-notes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317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invisible en tête : toutes les positions décalées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317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13171B"/>
                          </a:solidFill>
                          <a:latin typeface="Segoe UI"/>
                          <a:cs typeface="Segoe UI"/>
                        </a:rPr>
                        <a:t>Fins de ligne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fichiers Windows, navigateur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un caractère de trop par ligne, paragraphes perdus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13171B"/>
                          </a:solidFill>
                          <a:latin typeface="Segoe UI"/>
                          <a:cs typeface="Segoe UI"/>
                        </a:rPr>
                        <a:t>Accents (NFC)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copie depuis un PDF ou un Mac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« é » compte deux caractères, lexique manqué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13171B"/>
                          </a:solidFill>
                          <a:latin typeface="Segoe UI"/>
                          <a:cs typeface="Segoe UI"/>
                        </a:rPr>
                        <a:t>Césure invisible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Word, pages web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mot coupé en deux : « nécessaire » non reconnu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13171B"/>
                          </a:solidFill>
                          <a:latin typeface="Segoe UI"/>
                          <a:cs typeface="Segoe UI"/>
                        </a:rPr>
                        <a:t>Apostrophe courbe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correction auto de Word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« afin d’ » manqué ; spaCy lit « l’ » comme un nom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13171B"/>
                          </a:solidFill>
                          <a:latin typeface="Segoe UI"/>
                          <a:cs typeface="Segoe UI"/>
                        </a:rPr>
                        <a:t>Insécables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avant : ; ! ? et dans « »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spaCy en fait un token SPACE parasite dans l'arbre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LA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Paragraphes d’abord, phrases ensuite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14500"/>
            <a:ext cx="7429500" cy="1024128"/>
          </a:xfrm>
          <a:prstGeom prst="rect">
            <a:avLst/>
          </a:prstGeom>
          <a:solidFill>
            <a:srgbClr val="17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1866900"/>
            <a:ext cx="7124700" cy="3480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C9A6FF"/>
                </a:solidFill>
                <a:latin typeface="Consolas"/>
                <a:cs typeface="Consolas"/>
              </a:rPr>
              <a:t>for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bloc </a:t>
            </a:r>
            <a:r>
              <a:rPr lang="fr-FR" sz="1200" b="0" i="0">
                <a:solidFill>
                  <a:srgbClr val="C9A6FF"/>
                </a:solidFill>
                <a:latin typeface="Consolas"/>
                <a:cs typeface="Consolas"/>
              </a:rPr>
              <a:t>in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re.</a:t>
            </a:r>
            <a:r>
              <a:rPr lang="fr-FR" sz="1200" b="0" i="0">
                <a:solidFill>
                  <a:srgbClr val="6CCFE6"/>
                </a:solidFill>
                <a:latin typeface="Consolas"/>
                <a:cs typeface="Consolas"/>
              </a:rPr>
              <a:t>finditer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(PARAGRAPHE, texte):        </a:t>
            </a:r>
            <a:r>
              <a:rPr lang="fr-FR" sz="1200" b="0" i="0">
                <a:solidFill>
                  <a:srgbClr val="8D949D"/>
                </a:solidFill>
                <a:latin typeface="Consolas"/>
                <a:cs typeface="Consolas"/>
              </a:rPr>
              <a:t>  # 1  un paragraphe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   </a:t>
            </a:r>
            <a:r>
              <a:rPr lang="fr-FR" sz="1200" b="0" i="0">
                <a:solidFill>
                  <a:srgbClr val="C9A6FF"/>
                </a:solidFill>
                <a:latin typeface="Consolas"/>
                <a:cs typeface="Consolas"/>
              </a:rPr>
              <a:t>for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span </a:t>
            </a:r>
            <a:r>
              <a:rPr lang="fr-FR" sz="1200" b="0" i="0">
                <a:solidFill>
                  <a:srgbClr val="C9A6FF"/>
                </a:solidFill>
                <a:latin typeface="Consolas"/>
                <a:cs typeface="Consolas"/>
              </a:rPr>
              <a:t>in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_segmenter.</a:t>
            </a:r>
            <a:r>
              <a:rPr lang="fr-FR" sz="1200" b="0" i="0">
                <a:solidFill>
                  <a:srgbClr val="6CCFE6"/>
                </a:solidFill>
                <a:latin typeface="Consolas"/>
                <a:cs typeface="Consolas"/>
              </a:rPr>
              <a:t>segment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(bloc.</a:t>
            </a:r>
            <a:r>
              <a:rPr lang="fr-FR" sz="1200" b="0" i="0">
                <a:solidFill>
                  <a:srgbClr val="6CCFE6"/>
                </a:solidFill>
                <a:latin typeface="Consolas"/>
                <a:cs typeface="Consolas"/>
              </a:rPr>
              <a:t>group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()):  </a:t>
            </a:r>
            <a:r>
              <a:rPr lang="fr-FR" sz="1200" b="0" i="0">
                <a:solidFill>
                  <a:srgbClr val="8D949D"/>
                </a:solidFill>
                <a:latin typeface="Consolas"/>
                <a:cs typeface="Consolas"/>
              </a:rPr>
              <a:t>  # 2  ses phrases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       start = bloc.</a:t>
            </a:r>
            <a:r>
              <a:rPr lang="fr-FR" sz="1200" b="0" i="0">
                <a:solidFill>
                  <a:srgbClr val="6CCFE6"/>
                </a:solidFill>
                <a:latin typeface="Consolas"/>
                <a:cs typeface="Consolas"/>
              </a:rPr>
              <a:t>start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() + span.start          </a:t>
            </a:r>
            <a:r>
              <a:rPr lang="fr-FR" sz="1200" b="0" i="0">
                <a:solidFill>
                  <a:srgbClr val="8D949D"/>
                </a:solidFill>
                <a:latin typeface="Consolas"/>
                <a:cs typeface="Consolas"/>
              </a:rPr>
              <a:t>  # 3  position absolue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01050" y="171450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01050" y="182880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DEUX NIVEAUX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1050" y="2076450"/>
            <a:ext cx="31051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Le paragraphe sert de cadre : pysbd ne voit jamais le document entier, seulement un bloc de lignes.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1050" y="304800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01050" y="316230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CLEAN=FALSE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1050" y="3409950"/>
            <a:ext cx="31051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pysbd sait aussi nettoyer le texte. On le lui interdit : on veut ses positions, pas sa réécriture.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1050" y="438150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1050" y="449580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LA MÊME ADDITION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1050" y="4743450"/>
            <a:ext cx="31051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3171B"/>
                </a:solidFill>
                <a:latin typeface="Consolas"/>
              </a:rPr>
              <a:t>bloc.start() + span.start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Position du contenant, plus position dans le contenant.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fr-FR" sz="4000" b="1" i="0">
                <a:solidFill>
                  <a:srgbClr val="13171B"/>
                </a:solidFill>
                <a:latin typeface="Consolas"/>
                <a:cs typeface="Consolas"/>
              </a:rPr>
              <a:t>285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13171B"/>
                </a:solidFill>
                <a:latin typeface="Consolas"/>
                <a:cs typeface="Consolas"/>
              </a:rPr>
              <a:t>bloc.start()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début du 2ᵉ paragraphe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5468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fr-FR" sz="4000" b="1" i="0">
                <a:solidFill>
                  <a:srgbClr val="13171B"/>
                </a:solidFill>
                <a:latin typeface="Consolas"/>
                <a:cs typeface="Consolas"/>
              </a:rPr>
              <a:t>+ 49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13171B"/>
                </a:solidFill>
                <a:latin typeface="Consolas"/>
                <a:cs typeface="Consolas"/>
              </a:rPr>
              <a:t>span.start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début de la phrase dans ce paragraphe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15468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fr-FR" sz="4000" b="1" i="0">
                <a:solidFill>
                  <a:srgbClr val="7B3FD0"/>
                </a:solidFill>
                <a:latin typeface="Consolas"/>
                <a:cs typeface="Consolas"/>
              </a:rPr>
              <a:t>= 334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13171B"/>
                </a:solidFill>
                <a:latin typeface="Consolas"/>
                <a:cs typeface="Consolas"/>
              </a:rPr>
              <a:t>« En ce qui concerne… »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dans le texte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LA TOKENISATION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Un mot, une position absolue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14500"/>
            <a:ext cx="7429500" cy="795528"/>
          </a:xfrm>
          <a:prstGeom prst="rect">
            <a:avLst/>
          </a:prstGeom>
          <a:solidFill>
            <a:srgbClr val="17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1866900"/>
            <a:ext cx="7124700" cy="223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C9A6FF"/>
                </a:solidFill>
                <a:latin typeface="Consolas"/>
                <a:cs typeface="Consolas"/>
              </a:rPr>
              <a:t>for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match </a:t>
            </a:r>
            <a:r>
              <a:rPr lang="fr-FR" sz="1200" b="0" i="0">
                <a:solidFill>
                  <a:srgbClr val="C9A6FF"/>
                </a:solidFill>
                <a:latin typeface="Consolas"/>
                <a:cs typeface="Consolas"/>
              </a:rPr>
              <a:t>in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re.</a:t>
            </a:r>
            <a:r>
              <a:rPr lang="fr-FR" sz="1200" b="0" i="0">
                <a:solidFill>
                  <a:srgbClr val="6CCFE6"/>
                </a:solidFill>
                <a:latin typeface="Consolas"/>
                <a:cs typeface="Consolas"/>
              </a:rPr>
              <a:t>finditer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(</a:t>
            </a:r>
            <a:r>
              <a:rPr lang="fr-FR" sz="1200" b="0" i="0">
                <a:solidFill>
                  <a:srgbClr val="F0A46A"/>
                </a:solidFill>
                <a:latin typeface="Consolas"/>
                <a:cs typeface="Consolas"/>
              </a:rPr>
              <a:t>r"\S+"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, phrase):  </a:t>
            </a:r>
            <a:r>
              <a:rPr lang="fr-FR" sz="1200" b="0" i="0">
                <a:solidFill>
                  <a:srgbClr val="8D949D"/>
                </a:solidFill>
                <a:latin typeface="Consolas"/>
                <a:cs typeface="Consolas"/>
              </a:rPr>
              <a:t>  # un mot = une suite sans espace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    start = offset + match.</a:t>
            </a:r>
            <a:r>
              <a:rPr lang="fr-FR" sz="1200" b="0" i="0">
                <a:solidFill>
                  <a:srgbClr val="6CCFE6"/>
                </a:solidFill>
                <a:latin typeface="Consolas"/>
                <a:cs typeface="Consolas"/>
              </a:rPr>
              <a:t>start</a:t>
            </a:r>
            <a:r>
              <a:rPr lang="fr-FR" sz="1200" b="0" i="0">
                <a:solidFill>
                  <a:srgbClr val="E4E4E4"/>
                </a:solidFill>
                <a:latin typeface="Consolas"/>
                <a:cs typeface="Consolas"/>
              </a:rPr>
              <a:t>()         </a:t>
            </a:r>
            <a:r>
              <a:rPr lang="fr-FR" sz="1200" b="0" i="0">
                <a:solidFill>
                  <a:srgbClr val="8D949D"/>
                </a:solidFill>
                <a:latin typeface="Consolas"/>
                <a:cs typeface="Consolas"/>
              </a:rPr>
              <a:t>  # reportée, jamais cherchée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01050" y="171450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01050" y="1828800"/>
            <a:ext cx="31051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L’APPEL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1050" y="2076450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13171B"/>
                </a:solidFill>
                <a:latin typeface="Consolas"/>
              </a:rPr>
              <a:t>tokenize(phrase["texte"],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3171B"/>
                </a:solidFill>
                <a:latin typeface="Consolas"/>
              </a:rPr>
              <a:t>         phrase["start"])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1050" y="2857500"/>
            <a:ext cx="31051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01050" y="300990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3171B"/>
                </a:solidFill>
                <a:latin typeface="Consolas"/>
              </a:rPr>
              <a:t>position de la phrase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9450" y="30099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3171B"/>
                </a:solidFill>
                <a:latin typeface="Consolas"/>
              </a:rPr>
              <a:t>285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1050" y="327660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3171B"/>
                </a:solidFill>
                <a:latin typeface="Consolas"/>
              </a:rPr>
              <a:t>match.start()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9450" y="32766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3171B"/>
                </a:solidFill>
                <a:latin typeface="Consolas"/>
              </a:rPr>
              <a:t>+ 36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1050" y="3543300"/>
            <a:ext cx="3105150" cy="9525"/>
          </a:xfrm>
          <a:prstGeom prst="rect">
            <a:avLst/>
          </a:prstGeom>
          <a:solidFill>
            <a:srgbClr val="D0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01050" y="361950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7446C9"/>
                </a:solidFill>
                <a:latin typeface="Consolas"/>
              </a:rPr>
              <a:t>« est » commence 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9450" y="36195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7446C9"/>
                </a:solidFill>
                <a:latin typeface="Consolas"/>
              </a:rPr>
              <a:t>321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26080"/>
            <a:ext cx="3602736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35808"/>
            <a:ext cx="3602736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LIMITE ASSUMÉE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3602736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\S+ laisse la ponctuation collée au mot. Suffisant pour compter, à affiner plus tard.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2926080"/>
            <a:ext cx="3602736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035808"/>
            <a:ext cx="3602736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DEUX TOKENISATIONS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291840"/>
            <a:ext cx="3602736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6616A"/>
                </a:solidFill>
                <a:latin typeface="Segoe UI"/>
              </a:rPr>
              <a:t>Celle-ci compte les mots pour la règle de longueur. spaCy fait la sienne, plus fine, pour la grammaire : elle vit dans Sentence.analyse et ne remplace pas Sentence.tokens.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LA DÉTECTION DU PASSIF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Même forme, quatre constructions différentes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09750"/>
          <a:ext cx="10820400" cy="2552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Phrase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Ce que c’est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Regex « être + participe »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13171B"/>
                          </a:solidFill>
                          <a:latin typeface="Georgia"/>
                        </a:rPr>
                        <a:t>La décision </a:t>
                      </a:r>
                      <a:r>
                        <a:rPr sz="1650" b="0" i="0" u="sng">
                          <a:solidFill>
                            <a:srgbClr val="13171B"/>
                          </a:solidFill>
                          <a:uFill>
                            <a:solidFill>
                              <a:srgbClr val="7446C9"/>
                            </a:solidFill>
                          </a:uFill>
                          <a:latin typeface="Georgia"/>
                        </a:rPr>
                        <a:t>a été prise</a:t>
                      </a:r>
                      <a:r>
                        <a:rPr sz="1650" b="0" i="0">
                          <a:solidFill>
                            <a:srgbClr val="13171B"/>
                          </a:solidFill>
                          <a:latin typeface="Georgia"/>
                        </a:rPr>
                        <a:t>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56616A"/>
                          </a:solidFill>
                          <a:latin typeface="Segoe UI"/>
                        </a:rPr>
                        <a:t>un vrai passif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1D7852"/>
                          </a:solidFill>
                          <a:latin typeface="Segoe UI"/>
                        </a:rPr>
                        <a:t>passif ✓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13171B"/>
                          </a:solidFill>
                          <a:latin typeface="Georgia"/>
                        </a:rPr>
                        <a:t>Elle est allée à Paris.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56616A"/>
                          </a:solidFill>
                          <a:latin typeface="Segoe UI"/>
                        </a:rPr>
                        <a:t>un passé composé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B2352C"/>
                          </a:solidFill>
                          <a:latin typeface="Segoe UI"/>
                        </a:rPr>
                        <a:t>passif 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13171B"/>
                          </a:solidFill>
                          <a:latin typeface="Georgia"/>
                        </a:rPr>
                        <a:t>La porte est ouverte.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56616A"/>
                          </a:solidFill>
                          <a:latin typeface="Segoe UI"/>
                        </a:rPr>
                        <a:t>un état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B2352C"/>
                          </a:solidFill>
                          <a:latin typeface="Segoe UI"/>
                        </a:rPr>
                        <a:t>passif 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13171B"/>
                          </a:solidFill>
                          <a:latin typeface="Georgia"/>
                        </a:rPr>
                        <a:t>Il est convaincu.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56616A"/>
                          </a:solidFill>
                          <a:latin typeface="Segoe UI"/>
                        </a:rPr>
                        <a:t>un adjectif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B2352C"/>
                          </a:solidFill>
                          <a:latin typeface="Segoe UI"/>
                        </a:rPr>
                        <a:t>passif 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572000"/>
            <a:ext cx="952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56616A"/>
                </a:solidFill>
                <a:latin typeface="Segoe UI"/>
              </a:rPr>
              <a:t>Principe 8 : un passif sans agent cache qui décide. Pour le repérer, il faut la grammaire de la phrase, pas sa surface.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CE QUE VOIT SPACY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L’analyse en dépendances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DET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305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NOUN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30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130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été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VERB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980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ADP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05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DET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conseil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NOUN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2050" y="3886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171B"/>
                </a:solidFill>
                <a:latin typeface="Georgia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2050" y="4343400"/>
            <a:ext cx="152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6616A"/>
                </a:solidFill>
                <a:latin typeface="Consolas"/>
              </a:rPr>
              <a:t>PUNCT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95525" y="3543300"/>
            <a:ext cx="19050" cy="26670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6800" y="3543300"/>
            <a:ext cx="1238250" cy="190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7275" y="3543300"/>
            <a:ext cx="19050" cy="1714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1019175" y="3695700"/>
            <a:ext cx="95250" cy="114300"/>
          </a:xfrm>
          <a:prstGeom prst="triangle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675" y="32956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det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8775" y="3143250"/>
            <a:ext cx="19050" cy="6667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43300" y="3143250"/>
            <a:ext cx="1905000" cy="190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33775" y="3143250"/>
            <a:ext cx="19050" cy="57150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3495675" y="3695700"/>
            <a:ext cx="95250" cy="114300"/>
          </a:xfrm>
          <a:prstGeom prst="triangle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7050" y="289560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aux:tense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77275" y="3543300"/>
            <a:ext cx="19050" cy="26670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9050" y="3543300"/>
            <a:ext cx="1047750" cy="190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29525" y="3543300"/>
            <a:ext cx="19050" cy="1714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591425" y="3695700"/>
            <a:ext cx="95250" cy="114300"/>
          </a:xfrm>
          <a:prstGeom prst="triangle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05675" y="32956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det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77275" y="3143250"/>
            <a:ext cx="19050" cy="6667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781800" y="3143250"/>
            <a:ext cx="1905000" cy="1905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72275" y="3143250"/>
            <a:ext cx="19050" cy="571500"/>
          </a:xfrm>
          <a:prstGeom prst="rect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6734175" y="3695700"/>
            <a:ext cx="95250" cy="114300"/>
          </a:xfrm>
          <a:prstGeom prst="triangle">
            <a:avLst/>
          </a:prstGeom>
          <a:solidFill>
            <a:srgbClr val="56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77050" y="289560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34012" y="2743200"/>
            <a:ext cx="28575" cy="1066800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400550" y="2743200"/>
            <a:ext cx="1047750" cy="28575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86262" y="2743200"/>
            <a:ext cx="28575" cy="971550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Isosceles Triangle 44"/>
          <p:cNvSpPr/>
          <p:nvPr/>
        </p:nvSpPr>
        <p:spPr>
          <a:xfrm rot="10800000">
            <a:off x="4352925" y="3695700"/>
            <a:ext cx="95250" cy="114300"/>
          </a:xfrm>
          <a:prstGeom prst="triangle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7175" y="24955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7446C9"/>
                </a:solidFill>
                <a:latin typeface="Consolas"/>
              </a:rPr>
              <a:t>aux:pass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34012" y="2324100"/>
            <a:ext cx="28575" cy="1485900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305050" y="2324100"/>
            <a:ext cx="3143250" cy="28575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290762" y="2324100"/>
            <a:ext cx="28575" cy="1390650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Isosceles Triangle 49"/>
          <p:cNvSpPr/>
          <p:nvPr/>
        </p:nvSpPr>
        <p:spPr>
          <a:xfrm rot="10800000">
            <a:off x="2257425" y="3695700"/>
            <a:ext cx="95250" cy="114300"/>
          </a:xfrm>
          <a:prstGeom prst="triangle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19425" y="20764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7446C9"/>
                </a:solidFill>
                <a:latin typeface="Consolas"/>
              </a:rPr>
              <a:t>nsubj:pass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4012" y="1905000"/>
            <a:ext cx="28575" cy="1905000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448300" y="1905000"/>
            <a:ext cx="3238500" cy="28575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672512" y="1905000"/>
            <a:ext cx="28575" cy="1809750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Isosceles Triangle 54"/>
          <p:cNvSpPr/>
          <p:nvPr/>
        </p:nvSpPr>
        <p:spPr>
          <a:xfrm rot="10800000">
            <a:off x="8639175" y="3695700"/>
            <a:ext cx="95250" cy="114300"/>
          </a:xfrm>
          <a:prstGeom prst="triangle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0300" y="16573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7446C9"/>
                </a:solidFill>
                <a:latin typeface="Consolas"/>
              </a:rPr>
              <a:t>obl:agent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3300" y="4305300"/>
            <a:ext cx="2286000" cy="28575"/>
          </a:xfrm>
          <a:prstGeom prst="rect">
            <a:avLst/>
          </a:prstGeom>
          <a:solidFill>
            <a:srgbClr val="74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85800" y="4762500"/>
            <a:ext cx="24765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5800" y="4876800"/>
            <a:ext cx="24765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AUX:PASS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124450"/>
            <a:ext cx="2476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16A"/>
                </a:solidFill>
                <a:latin typeface="Segoe UI"/>
              </a:rPr>
              <a:t>« été » est l’auxiliaire d’un passif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29000" y="4762500"/>
            <a:ext cx="24765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29000" y="4876800"/>
            <a:ext cx="24765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OBL:AGENT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29000" y="5124450"/>
            <a:ext cx="24765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16A"/>
                </a:solidFill>
                <a:latin typeface="Segoe UI"/>
              </a:rPr>
              <a:t>« conseil » est celui qui agit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4762500"/>
            <a:ext cx="53340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72200" y="4876800"/>
            <a:ext cx="53340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LEMME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5124450"/>
            <a:ext cx="5334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6616A"/>
                </a:solidFill>
                <a:latin typeface="Segoe UI"/>
              </a:rPr>
              <a:t>La forme de base du mot, celle du dictionnaire : l’infinitif pour un verbe. spaCy la donne pour chaque token.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Consolas"/>
              </a:rPr>
              <a:t>prise → prendre   allée → aller   sont → être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LA RÈGLE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Cinq questions posées à l’arbre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19072"/>
            <a:ext cx="7620000" cy="2286000"/>
          </a:xfrm>
          <a:prstGeom prst="rect">
            <a:avLst/>
          </a:prstGeom>
          <a:solidFill>
            <a:srgbClr val="17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1883664"/>
            <a:ext cx="7315200" cy="4093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for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aux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in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phrase.analyse: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  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if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aux.fonction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not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in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{</a:t>
            </a:r>
            <a:r>
              <a:rPr lang="fr-FR" sz="1350" b="0" i="0">
                <a:solidFill>
                  <a:srgbClr val="F0A46A"/>
                </a:solidFill>
                <a:latin typeface="Consolas"/>
                <a:cs typeface="Consolas"/>
              </a:rPr>
              <a:t>"aux:pass"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, </a:t>
            </a:r>
            <a:r>
              <a:rPr lang="fr-FR" sz="1350" b="0" i="0">
                <a:solidFill>
                  <a:srgbClr val="F0A46A"/>
                </a:solidFill>
                <a:latin typeface="Consolas"/>
                <a:cs typeface="Consolas"/>
              </a:rPr>
              <a:t>"cop"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}: 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continue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</a:t>
            </a:r>
            <a:r>
              <a:rPr lang="fr-FR" sz="1350" b="0" i="0">
                <a:solidFill>
                  <a:srgbClr val="8D949D"/>
                </a:solidFill>
                <a:latin typeface="Consolas"/>
                <a:cs typeface="Consolas"/>
              </a:rPr>
              <a:t>  # 1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   participe = phrase.analyse[aux.gouverneur]            </a:t>
            </a:r>
            <a:r>
              <a:rPr lang="fr-FR" sz="1350" b="0" i="0">
                <a:solidFill>
                  <a:srgbClr val="8D949D"/>
                </a:solidFill>
                <a:latin typeface="Consolas"/>
                <a:cs typeface="Consolas"/>
              </a:rPr>
              <a:t>  # 2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  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if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participe.categorie != </a:t>
            </a:r>
            <a:r>
              <a:rPr lang="fr-FR" sz="1350" b="0" i="0">
                <a:solidFill>
                  <a:srgbClr val="F0A46A"/>
                </a:solidFill>
                <a:latin typeface="Consolas"/>
                <a:cs typeface="Consolas"/>
              </a:rPr>
              <a:t>"VERB"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:           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continue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</a:t>
            </a:r>
            <a:r>
              <a:rPr lang="fr-FR" sz="1350" b="0" i="0">
                <a:solidFill>
                  <a:srgbClr val="8D949D"/>
                </a:solidFill>
                <a:latin typeface="Consolas"/>
                <a:cs typeface="Consolas"/>
              </a:rPr>
              <a:t>  # 3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  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if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participe.lemme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in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verbes_etre:           </a:t>
            </a:r>
            <a:r>
              <a:rPr lang="fr-FR" sz="1350" b="0" i="0">
                <a:solidFill>
                  <a:srgbClr val="C9A6FF"/>
                </a:solidFill>
                <a:latin typeface="Consolas"/>
                <a:cs typeface="Consolas"/>
              </a:rPr>
              <a:t>continue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</a:t>
            </a:r>
            <a:r>
              <a:rPr lang="fr-FR" sz="1350" b="0" i="0">
                <a:solidFill>
                  <a:srgbClr val="8D949D"/>
                </a:solidFill>
                <a:latin typeface="Consolas"/>
                <a:cs typeface="Consolas"/>
              </a:rPr>
              <a:t>  # 4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   agent = </a:t>
            </a:r>
            <a:r>
              <a:rPr lang="fr-FR" sz="1350" b="0" i="0">
                <a:solidFill>
                  <a:srgbClr val="6CCFE6"/>
                </a:solidFill>
                <a:latin typeface="Consolas"/>
                <a:cs typeface="Consolas"/>
              </a:rPr>
              <a:t>any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(t.fonction == </a:t>
            </a:r>
            <a:r>
              <a:rPr lang="fr-FR" sz="1350" b="0" i="0">
                <a:solidFill>
                  <a:srgbClr val="F0A46A"/>
                </a:solidFill>
                <a:latin typeface="Consolas"/>
                <a:cs typeface="Consolas"/>
              </a:rPr>
              <a:t>"obl:agent"</a:t>
            </a:r>
            <a:r>
              <a:rPr lang="fr-FR" sz="1350" b="0" i="0">
                <a:solidFill>
                  <a:srgbClr val="E4E4E4"/>
                </a:solidFill>
                <a:latin typeface="Consolas"/>
                <a:cs typeface="Consolas"/>
              </a:rPr>
              <a:t> ...)            </a:t>
            </a:r>
            <a:r>
              <a:rPr lang="fr-FR" sz="1350" b="0" i="0">
                <a:solidFill>
                  <a:srgbClr val="8D949D"/>
                </a:solidFill>
                <a:latin typeface="Consolas"/>
                <a:cs typeface="Consolas"/>
              </a:rPr>
              <a:t>  #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50000"/>
            <a:ext cx="7620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Extrait simplifié de app/services/rules/fr.py.</a:t>
            </a:r>
          </a:p>
        </p:txBody>
      </p:sp>
      <p:graphicFrame>
        <p:nvGraphicFramePr>
          <p:cNvPr id="17" name="Tableau pourquoi"/>
          <p:cNvGraphicFramePr>
            <a:graphicFrameLocks noGrp="1"/>
          </p:cNvGraphicFramePr>
          <p:nvPr/>
        </p:nvGraphicFramePr>
        <p:xfrm>
          <a:off x="685800" y="4230000"/>
          <a:ext cx="7620000" cy="1810000"/>
        </p:xfrm>
        <a:graphic>
          <a:graphicData uri="http://schemas.openxmlformats.org/drawingml/2006/table">
            <a:tbl>
              <a:tblPr firstRow="1"/>
              <a:tblGrid>
                <a:gridCol w="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endParaRPr/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3171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975" b="1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POURQUOI CES CINQ QUESTIONS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3171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7446C9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317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Trouver le « être » auxiliaire. aux:pass = passif sûr ; cop = passif possible, à vérifier (voir à droite).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317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7446C9"/>
                          </a:solidFill>
                          <a:latin typeface="Consolas"/>
                          <a:cs typeface="Consolas"/>
                        </a:rPr>
                        <a:t>2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« été » seul ne dit rien : on remonte au mot qu'il accompagne (« prise ») pour savoir ce que c'est.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7446C9"/>
                          </a:solidFill>
                          <a:latin typeface="Consolas"/>
                          <a:cs typeface="Consolas"/>
                        </a:rPr>
                        <a:t>3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Ce mot est-il un verbe ? « prise » (VERB) : on garde. « nécessaire » (ADJ) : un état, on écarte.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7446C9"/>
                          </a:solidFill>
                          <a:latin typeface="Consolas"/>
                          <a:cs typeface="Consolas"/>
                        </a:rPr>
                        <a:t>4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« elle est allée » est un passé composé actif. Liste en base : corrigée depuis /listes/, sans code.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r>
                        <a:rPr lang="fr-FR" sz="1050" b="1" i="0" dirty="0">
                          <a:solidFill>
                            <a:srgbClr val="7446C9"/>
                          </a:solidFill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0" i="0" dirty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Principe P8, « qui fait quoi ». Avec « par le ministre », le lecteur sait qui agit : info. Sans agent : avertissement.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D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rait copule 18"/>
          <p:cNvSpPr/>
          <p:nvPr/>
        </p:nvSpPr>
        <p:spPr>
          <a:xfrm>
            <a:off x="8591550" y="1714500"/>
            <a:ext cx="29146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itre copule 18"/>
          <p:cNvSpPr txBox="1"/>
          <p:nvPr/>
        </p:nvSpPr>
        <p:spPr>
          <a:xfrm>
            <a:off x="8591550" y="1828800"/>
            <a:ext cx="29146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LA COPULE, C'EST QUOI ?</a:t>
            </a:r>
          </a:p>
        </p:txBody>
      </p:sp>
      <p:sp>
        <p:nvSpPr>
          <p:cNvPr id="20" name="Texte copule 18"/>
          <p:cNvSpPr txBox="1"/>
          <p:nvPr/>
        </p:nvSpPr>
        <p:spPr>
          <a:xfrm>
            <a:off x="8591550" y="2076450"/>
            <a:ext cx="29146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Le verbe « être » qui relie un sujet à une qualité, sans action : « Le dossier </a:t>
            </a:r>
            <a:r>
              <a:rPr sz="1200" b="1" i="0">
                <a:solidFill>
                  <a:srgbClr val="56616A"/>
                </a:solidFill>
                <a:latin typeface="Segoe UI"/>
              </a:rPr>
              <a:t>est</a:t>
            </a:r>
            <a:r>
              <a:rPr sz="1200" b="0" i="0">
                <a:solidFill>
                  <a:srgbClr val="56616A"/>
                </a:solidFill>
                <a:latin typeface="Segoe UI"/>
              </a:rPr>
              <a:t> complet ». spaCy l'étiquette cop.</a:t>
            </a:r>
          </a:p>
        </p:txBody>
      </p:sp>
      <p:sp>
        <p:nvSpPr>
          <p:cNvPr id="21" name="Trait copule 21"/>
          <p:cNvSpPr/>
          <p:nvPr/>
        </p:nvSpPr>
        <p:spPr>
          <a:xfrm>
            <a:off x="8591550" y="3365500"/>
            <a:ext cx="29146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itre copule 21"/>
          <p:cNvSpPr txBox="1"/>
          <p:nvPr/>
        </p:nvSpPr>
        <p:spPr>
          <a:xfrm>
            <a:off x="8591550" y="3479800"/>
            <a:ext cx="29146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POURQUOI LA RÈGLE L'ACCEPTE</a:t>
            </a:r>
          </a:p>
        </p:txBody>
      </p:sp>
      <p:sp>
        <p:nvSpPr>
          <p:cNvPr id="23" name="Texte copule 21"/>
          <p:cNvSpPr txBox="1"/>
          <p:nvPr/>
        </p:nvSpPr>
        <p:spPr>
          <a:xfrm>
            <a:off x="8591550" y="3727450"/>
            <a:ext cx="29146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Sans agent, le modèle se trompe parfois : dans « La décision a </a:t>
            </a:r>
            <a:r>
              <a:rPr sz="1200" b="1" i="0">
                <a:solidFill>
                  <a:srgbClr val="56616A"/>
                </a:solidFill>
                <a:latin typeface="Segoe UI"/>
              </a:rPr>
              <a:t>été</a:t>
            </a:r>
            <a:r>
              <a:rPr sz="1200" b="0" i="0">
                <a:solidFill>
                  <a:srgbClr val="56616A"/>
                </a:solidFill>
                <a:latin typeface="Segoe UI"/>
              </a:rPr>
              <a:t> prise », il met cop au lieu de aux:pass.</a:t>
            </a:r>
          </a:p>
        </p:txBody>
      </p:sp>
      <p:sp>
        <p:nvSpPr>
          <p:cNvPr id="24" name="Trait copule 24"/>
          <p:cNvSpPr/>
          <p:nvPr/>
        </p:nvSpPr>
        <p:spPr>
          <a:xfrm>
            <a:off x="8591550" y="5016500"/>
            <a:ext cx="291465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itre copule 24"/>
          <p:cNvSpPr txBox="1"/>
          <p:nvPr/>
        </p:nvSpPr>
        <p:spPr>
          <a:xfrm>
            <a:off x="8591550" y="5130800"/>
            <a:ext cx="291465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PUIS LA QUESTION 3 TRIE</a:t>
            </a:r>
          </a:p>
        </p:txBody>
      </p:sp>
      <p:sp>
        <p:nvSpPr>
          <p:cNvPr id="26" name="Texte copule 24"/>
          <p:cNvSpPr txBox="1"/>
          <p:nvPr/>
        </p:nvSpPr>
        <p:spPr>
          <a:xfrm>
            <a:off x="8591550" y="5378450"/>
            <a:ext cx="29146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616A"/>
                </a:solidFill>
                <a:latin typeface="Segoe UI"/>
              </a:rPr>
              <a:t>Après la copule, un adjectif (« complet ») est écarté. Un participe VERB (« prise ») reste : c'est un passif.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FEATURE · RÉSULTATS MESURÉS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Les heuristiques doublent le score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14500"/>
          <a:ext cx="6719588" cy="3257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25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Phrase de référence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Attendu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Dépendances seules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 i="0">
                          <a:solidFill>
                            <a:srgbClr val="56616A"/>
                          </a:solidFill>
                          <a:latin typeface="Segoe UI"/>
                        </a:rPr>
                        <a:t>Règle actuelle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Georgia"/>
                        </a:rPr>
                        <a:t>La décision a été prise par le conseil.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passif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D7852"/>
                          </a:solidFill>
                          <a:latin typeface="Consolas"/>
                        </a:rPr>
                        <a:t>✓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D7852"/>
                          </a:solidFill>
                          <a:latin typeface="Consolas"/>
                        </a:rPr>
                        <a:t>✓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Georgia"/>
                        </a:rPr>
                        <a:t>La décision a été prise.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passif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B2352C"/>
                          </a:solidFill>
                          <a:latin typeface="Consolas"/>
                        </a:rPr>
                        <a:t>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D7852"/>
                          </a:solidFill>
                          <a:latin typeface="Consolas"/>
                        </a:rPr>
                        <a:t>✓</a:t>
                      </a:r>
                      <a:r>
                        <a:rPr lang="fr-FR" sz="1200" b="0" i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 ①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Georgia"/>
                        </a:rPr>
                        <a:t>Le rapport sera publié demain.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passif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D7852"/>
                          </a:solidFill>
                          <a:latin typeface="Consolas"/>
                        </a:rPr>
                        <a:t>✓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D7852"/>
                          </a:solidFill>
                          <a:latin typeface="Consolas"/>
                        </a:rPr>
                        <a:t>✓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Georgia"/>
                        </a:rPr>
                        <a:t>Elle est allée à Paris.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B2352C"/>
                          </a:solidFill>
                          <a:latin typeface="Consolas"/>
                        </a:rPr>
                        <a:t>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D7852"/>
                          </a:solidFill>
                          <a:latin typeface="Consolas"/>
                        </a:rPr>
                        <a:t>✓</a:t>
                      </a:r>
                      <a:r>
                        <a:rPr lang="fr-FR" sz="1200" b="0" i="0">
                          <a:solidFill>
                            <a:srgbClr val="56616A"/>
                          </a:solidFill>
                          <a:latin typeface="Segoe UI"/>
                          <a:cs typeface="Segoe UI"/>
                        </a:rPr>
                        <a:t> ③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Georgia"/>
                        </a:rPr>
                        <a:t>La porte est ouverte.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ambigu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B2352C"/>
                          </a:solidFill>
                          <a:latin typeface="Consolas"/>
                        </a:rPr>
                        <a:t>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B2352C"/>
                          </a:solidFill>
                          <a:latin typeface="Consolas"/>
                        </a:rPr>
                        <a:t>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13171B"/>
                          </a:solidFill>
                          <a:latin typeface="Georgia"/>
                        </a:rPr>
                        <a:t>Il est convaincu de son bon droit.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56616A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B2352C"/>
                          </a:solidFill>
                          <a:latin typeface="Consolas"/>
                        </a:rPr>
                        <a:t>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0" i="0">
                          <a:solidFill>
                            <a:srgbClr val="B2352C"/>
                          </a:solidFill>
                          <a:latin typeface="Consolas"/>
                        </a:rPr>
                        <a:t>✗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3171B"/>
                          </a:solidFill>
                          <a:latin typeface="Consolas"/>
                        </a:rPr>
                        <a:t>2/6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75" b="1" i="0">
                          <a:solidFill>
                            <a:srgbClr val="1D7852"/>
                          </a:solidFill>
                          <a:latin typeface="Consolas"/>
                        </a:rPr>
                        <a:t>4/6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2038350"/>
            <a:ext cx="672084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26679" y="1719072"/>
            <a:ext cx="3776472" cy="18288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847088"/>
            <a:ext cx="377647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fr-FR" sz="975" b="1" i="0">
                <a:solidFill>
                  <a:srgbClr val="56616A"/>
                </a:solidFill>
                <a:latin typeface="Segoe UI"/>
                <a:cs typeface="Segoe UI"/>
              </a:rPr>
              <a:t>UNE HEURISTIQUE, ICI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lang="fr-FR" sz="1200" b="0" i="0">
                <a:solidFill>
                  <a:srgbClr val="13171B"/>
                </a:solidFill>
                <a:latin typeface="Segoe UI"/>
                <a:cs typeface="Segoe UI"/>
              </a:rPr>
              <a:t>Une règle simple, écrite à la main, ajoutée après spaCy pour corriger ses erreurs connues.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fr-FR" sz="1350" b="1" i="0">
                <a:solidFill>
                  <a:srgbClr val="7B3FD0"/>
                </a:solidFill>
                <a:latin typeface="Segoe UI"/>
                <a:cs typeface="Segoe UI"/>
              </a:rPr>
              <a:t>①  </a:t>
            </a: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Accepter aussi cop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125" b="1" i="0">
                <a:solidFill>
                  <a:srgbClr val="13171B"/>
                </a:solidFill>
                <a:latin typeface="Segoe UI"/>
                <a:cs typeface="Segoe UI"/>
              </a:rPr>
              <a:t>Copule</a:t>
            </a: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 : le verbe « être » qui relie un sujet à un attribut (« il est malade »). Sans agent, spaCy lit « été » ainsi, plus comme aux:pass : on accepte les deux.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fr-FR" sz="1350" b="1" i="0">
                <a:solidFill>
                  <a:srgbClr val="7B3FD0"/>
                </a:solidFill>
                <a:latin typeface="Segoe UI"/>
                <a:cs typeface="Segoe UI"/>
              </a:rPr>
              <a:t>②  </a:t>
            </a: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Exiger un participe VERB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Écarte les adjectifs : « est susceptible », « est nécessaire » ne sont plus des passifs.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lang="fr-FR" sz="1350" b="1" i="0">
                <a:solidFill>
                  <a:srgbClr val="7B3FD0"/>
                </a:solidFill>
                <a:latin typeface="Segoe UI"/>
                <a:cs typeface="Segoe UI"/>
              </a:rPr>
              <a:t>③  </a:t>
            </a: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Exclure les verbes avec être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Le lemme est comparé à 17 verbes (aller, venir…) : « Elle est allée » n’est plus signalée.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i="1">
                <a:solidFill>
                  <a:srgbClr val="56616A"/>
                </a:solidFill>
                <a:latin typeface="Segoe UI"/>
                <a:cs typeface="Segoe UI"/>
              </a:rPr>
              <a:t>sm = md : le modèle moyen de spaCy ne change aucun résultat.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6720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1200" b="1" i="0">
                <a:solidFill>
                  <a:srgbClr val="13171B"/>
                </a:solidFill>
                <a:latin typeface="Segoe UI"/>
                <a:cs typeface="Segoe UI"/>
              </a:rPr>
              <a:t>Dépendances seules</a:t>
            </a: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 : on signale dès que spaCy étiquette aux:pass ou nsubj:pass, sans autre vérification.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1" i="0">
                <a:solidFill>
                  <a:srgbClr val="13171B"/>
                </a:solidFill>
                <a:latin typeface="Segoe UI"/>
                <a:cs typeface="Segoe UI"/>
              </a:rPr>
              <a:t>Règle actuelle</a:t>
            </a: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 : la même analyse, corrigée par les trois heuristiques </a:t>
            </a:r>
            <a:r>
              <a:rPr lang="fr-FR" sz="1200" b="1" i="0">
                <a:solidFill>
                  <a:srgbClr val="7B3FD0"/>
                </a:solidFill>
                <a:latin typeface="Segoe UI"/>
                <a:cs typeface="Segoe UI"/>
              </a:rPr>
              <a:t>① ② ③</a:t>
            </a:r>
            <a:r>
              <a:rPr lang="fr-FR" sz="1200" b="0" i="0">
                <a:solidFill>
                  <a:srgbClr val="56616A"/>
                </a:solidFill>
                <a:latin typeface="Segoe UI"/>
                <a:cs typeface="Segoe UI"/>
              </a:rPr>
              <a:t> à droite.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13171B"/>
                </a:solidFill>
                <a:latin typeface="Segoe UI"/>
              </a:rPr>
              <a:t>Fait, à faire, refusé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097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431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D7852"/>
                </a:solidFill>
                <a:latin typeface="Segoe UI"/>
              </a:rPr>
              <a:t>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300"/>
            <a:ext cx="33528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Texte collé ou fichier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.txt · .md · .docx · .odt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Trois règles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longueur, connecteurs lourds, passif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Surlignage relié aux fiches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Validation serveur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vide, trop long, format refusé, illisible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Listes de mots modifiables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Analyses enregistrées sous un nom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18097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9600" y="19431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3171B"/>
                </a:solidFill>
                <a:latin typeface="Segoe UI"/>
              </a:rPr>
              <a:t>À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2400300"/>
            <a:ext cx="3352800" cy="2159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Règles nominalisations et jargon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principes 6 et 9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Anglais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une ligne dans REGLES, des seuils, un lexique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Export et comparaison de versions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>
                <a:solidFill>
                  <a:srgbClr val="56616A"/>
                </a:solidFill>
                <a:latin typeface="Segoe UI"/>
                <a:cs typeface="Segoe UI"/>
              </a:rPr>
              <a:t>— </a:t>
            </a:r>
            <a:r>
              <a:rPr lang="fr-FR" sz="1500" b="0" i="0">
                <a:solidFill>
                  <a:srgbClr val="13171B"/>
                </a:solidFill>
                <a:latin typeface="Segoe UI"/>
                <a:cs typeface="Segoe UI"/>
              </a:rPr>
              <a:t>Connexion et droits d'accès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25" b="0" i="0">
                <a:solidFill>
                  <a:srgbClr val="56616A"/>
                </a:solidFill>
                <a:latin typeface="Segoe UI"/>
                <a:cs typeface="Segoe UI"/>
              </a:rPr>
              <a:t>inutiles en local : un seul utilisateur, sur son poste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3400" y="18097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3400" y="19431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3171B"/>
                </a:solidFill>
                <a:latin typeface="Segoe UI"/>
              </a:rPr>
              <a:t>Refusé, volontairement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2400300"/>
            <a:ext cx="33528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— </a:t>
            </a:r>
            <a:r>
              <a:rPr sz="1500" b="0" i="0">
                <a:solidFill>
                  <a:srgbClr val="13171B"/>
                </a:solidFill>
                <a:latin typeface="Segoe UI"/>
              </a:rPr>
              <a:t>.pdf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l’extraction casse les paragraphes, donc la mesure des phrases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— </a:t>
            </a:r>
            <a:r>
              <a:rPr sz="1500" b="0" i="0">
                <a:solidFill>
                  <a:srgbClr val="13171B"/>
                </a:solidFill>
                <a:latin typeface="Segoe UI"/>
              </a:rPr>
              <a:t>.doc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format binaire obsolète, sans bibliothèque fiable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0" i="0">
                <a:solidFill>
                  <a:srgbClr val="56616A"/>
                </a:solidFill>
                <a:latin typeface="Segoe UI"/>
              </a:rPr>
              <a:t>— </a:t>
            </a:r>
            <a:r>
              <a:rPr sz="1500" b="0" i="0">
                <a:solidFill>
                  <a:srgbClr val="13171B"/>
                </a:solidFill>
                <a:latin typeface="Segoe UI"/>
              </a:rPr>
              <a:t>Réécriture par IA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125" b="0" i="0">
                <a:solidFill>
                  <a:srgbClr val="56616A"/>
                </a:solidFill>
                <a:latin typeface="Segoe UI"/>
              </a:rPr>
              <a:t>le travail intéressant sortirait du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06440"/>
            <a:ext cx="10817352" cy="18288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Trois semaines</a:t>
            </a: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  ·  fonctionnalités gelées le 23/09  ·  </a:t>
            </a: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48 tests</a:t>
            </a: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 en 3 secondes  ·  passif </a:t>
            </a:r>
            <a:r>
              <a:rPr lang="fr-FR" sz="1350" b="1" i="0">
                <a:solidFill>
                  <a:srgbClr val="13171B"/>
                </a:solidFill>
                <a:latin typeface="Segoe UI"/>
                <a:cs typeface="Segoe UI"/>
              </a:rPr>
              <a:t>4/6</a:t>
            </a:r>
            <a:r>
              <a:rPr lang="fr-FR" sz="1350" b="0" i="0">
                <a:solidFill>
                  <a:srgbClr val="56616A"/>
                </a:solidFill>
                <a:latin typeface="Segoe UI"/>
                <a:cs typeface="Segoe UI"/>
              </a:rPr>
              <a:t> sur les phrases de référence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975" b="1" i="0" dirty="0">
                <a:solidFill>
                  <a:srgbClr val="56616A"/>
                </a:solidFill>
                <a:latin typeface="Segoe UI"/>
                <a:cs typeface="Segoe UI"/>
              </a:rPr>
              <a:t>LA SUITE · LES LANGUES DE L'UE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76300"/>
            <a:ext cx="10820400" cy="1139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450" b="1" i="0" dirty="0">
                <a:solidFill>
                  <a:srgbClr val="13171B"/>
                </a:solidFill>
                <a:latin typeface="Segoe UI"/>
                <a:cs typeface="Segoe UI"/>
              </a:rPr>
              <a:t>Pensé pour les 24 langues de l'UE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097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431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50" b="1" i="0" dirty="0">
                <a:solidFill>
                  <a:srgbClr val="13171B"/>
                </a:solidFill>
                <a:latin typeface="Segoe UI"/>
                <a:cs typeface="Segoe UI"/>
              </a:rPr>
              <a:t>Pourquoi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300"/>
            <a:ext cx="33528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Un référentiel en 24 langues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« Rédiger clairement » est publié dans toutes les langues officielles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Un texte, 24 versions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au Parlement européen, chaque texte est traduit dans toutes les langues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Clair à la source, clair partout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une phrase claire se traduit mieux dans les 23 autres langues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18097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9600" y="19431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50" b="1" i="0" dirty="0">
                <a:solidFill>
                  <a:srgbClr val="1D7852"/>
                </a:solidFill>
                <a:latin typeface="Segoe UI"/>
                <a:cs typeface="Segoe UI"/>
              </a:rPr>
              <a:t>Déjà prêt dans le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2400300"/>
            <a:ext cx="33528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Seuils par langue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25 mots en français, 21 en anglais : une ligne de données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Listes de mots en base, par langue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une langue de plus = des données, pas du code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Règles filtrées par langue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une langue non couverte ne fait jamais planter l'analyse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spaCy dans un seul module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changer de modèle ne touche qu'un fichier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3400" y="1809750"/>
            <a:ext cx="3352800" cy="1905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3400" y="19431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50" b="1" i="0" dirty="0">
                <a:solidFill>
                  <a:srgbClr val="13171B"/>
                </a:solidFill>
                <a:latin typeface="Segoe UI"/>
                <a:cs typeface="Segoe UI"/>
              </a:rPr>
              <a:t>Reste à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2400300"/>
            <a:ext cx="33528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L'anglais d'abord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une ligne dans REGLES, des seuils, un lexique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Un modèle spaCy par langue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il n'en existe pas pour toutes : ni maltais, ni irlandais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50"/>
              </a:spcAft>
            </a:pPr>
            <a:r>
              <a:rPr lang="fr-FR" sz="1500" b="0" i="0" dirty="0">
                <a:solidFill>
                  <a:srgbClr val="56616A"/>
                </a:solidFill>
                <a:latin typeface="Segoe UI"/>
                <a:cs typeface="Segoe UI"/>
              </a:rPr>
              <a:t>— </a:t>
            </a:r>
            <a:r>
              <a:rPr lang="fr-FR" sz="1500" b="0" i="0" dirty="0">
                <a:solidFill>
                  <a:srgbClr val="13171B"/>
                </a:solidFill>
                <a:latin typeface="Segoe UI"/>
                <a:cs typeface="Segoe UI"/>
              </a:rPr>
              <a:t>Des lexiques par des linguistes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lang="fr-FR" sz="1125" b="0" i="0" dirty="0">
                <a:solidFill>
                  <a:srgbClr val="56616A"/>
                </a:solidFill>
                <a:latin typeface="Segoe UI"/>
                <a:cs typeface="Segoe UI"/>
              </a:rPr>
              <a:t>chaque langue a ses propres lourdeurs administratives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06440"/>
            <a:ext cx="10817352" cy="18288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1" i="0" dirty="0">
                <a:solidFill>
                  <a:srgbClr val="13171B"/>
                </a:solidFill>
                <a:latin typeface="Segoe UI"/>
                <a:cs typeface="Segoe UI"/>
              </a:rPr>
              <a:t>Livré : le français</a:t>
            </a:r>
            <a:r>
              <a:rPr lang="fr-FR" sz="1350" b="0" i="0" dirty="0">
                <a:solidFill>
                  <a:srgbClr val="56616A"/>
                </a:solidFill>
                <a:latin typeface="Segoe UI"/>
                <a:cs typeface="Segoe UI"/>
              </a:rPr>
              <a:t>  ·  le moteur ne suppose aucune langue : c'est le Document qui porte la sienne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3850"/>
            <a:ext cx="1082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POUR FINIR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05000"/>
            <a:ext cx="11430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AVANT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9300" y="1809750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wavy">
                <a:solidFill>
                  <a:srgbClr val="13171B"/>
                </a:solidFill>
                <a:uFill>
                  <a:solidFill>
                    <a:srgbClr val="BF5F18"/>
                  </a:solidFill>
                </a:uFill>
                <a:latin typeface="Georgia"/>
              </a:rPr>
              <a:t>Afin d’</a:t>
            </a:r>
            <a:r>
              <a:rPr sz="2400" b="0" i="0">
                <a:solidFill>
                  <a:srgbClr val="13171B"/>
                </a:solidFill>
                <a:latin typeface="Georgia"/>
              </a:rPr>
              <a:t>assurer le suivi, une notice </a:t>
            </a:r>
            <a:r>
              <a:rPr sz="2400" b="0" i="0" u="sng">
                <a:solidFill>
                  <a:srgbClr val="13171B"/>
                </a:solidFill>
                <a:uFill>
                  <a:solidFill>
                    <a:srgbClr val="7446C9"/>
                  </a:solidFill>
                </a:uFill>
                <a:latin typeface="Georgia"/>
              </a:rPr>
              <a:t>est publiée</a:t>
            </a:r>
            <a:r>
              <a:rPr sz="2400" b="0" i="0">
                <a:solidFill>
                  <a:srgbClr val="13171B"/>
                </a:solidFill>
                <a:latin typeface="Georg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57500"/>
            <a:ext cx="11430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APRÈS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9300" y="2743200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 dirty="0">
                <a:solidFill>
                  <a:srgbClr val="13171B"/>
                </a:solidFill>
                <a:latin typeface="Georgia"/>
              </a:rPr>
              <a:t>Pour assurer le </a:t>
            </a:r>
            <a:r>
              <a:rPr sz="2850" b="0" i="0" dirty="0" err="1">
                <a:solidFill>
                  <a:srgbClr val="13171B"/>
                </a:solidFill>
                <a:latin typeface="Georgia"/>
              </a:rPr>
              <a:t>suivi</a:t>
            </a:r>
            <a:r>
              <a:rPr sz="2850" b="0" i="0" dirty="0">
                <a:solidFill>
                  <a:srgbClr val="13171B"/>
                </a:solidFill>
                <a:latin typeface="Georgia"/>
              </a:rPr>
              <a:t>, le service </a:t>
            </a:r>
            <a:r>
              <a:rPr sz="2850" b="0" i="0" dirty="0" err="1">
                <a:solidFill>
                  <a:srgbClr val="13171B"/>
                </a:solidFill>
                <a:latin typeface="Georgia"/>
              </a:rPr>
              <a:t>publie</a:t>
            </a:r>
            <a:r>
              <a:rPr sz="2850" b="0" i="0" dirty="0">
                <a:solidFill>
                  <a:srgbClr val="13171B"/>
                </a:solidFill>
                <a:latin typeface="Georgia"/>
              </a:rPr>
              <a:t> </a:t>
            </a:r>
            <a:r>
              <a:rPr sz="2850" b="0" i="0" dirty="0" err="1">
                <a:solidFill>
                  <a:srgbClr val="13171B"/>
                </a:solidFill>
                <a:latin typeface="Georgia"/>
              </a:rPr>
              <a:t>une</a:t>
            </a:r>
            <a:r>
              <a:rPr sz="2850" b="0" i="0" dirty="0">
                <a:solidFill>
                  <a:srgbClr val="13171B"/>
                </a:solidFill>
                <a:latin typeface="Georgia"/>
              </a:rPr>
              <a:t> notice.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91000"/>
            <a:ext cx="10820400" cy="63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 dirty="0">
                <a:solidFill>
                  <a:srgbClr val="13171B"/>
                </a:solidFill>
                <a:latin typeface="Segoe UI"/>
              </a:rPr>
              <a:t>Merci</a:t>
            </a:r>
            <a:r>
              <a:rPr lang="en-US" sz="3450" b="1" i="0" dirty="0">
                <a:solidFill>
                  <a:srgbClr val="13171B"/>
                </a:solidFill>
                <a:latin typeface="Segoe UI"/>
              </a:rPr>
              <a:t> de </a:t>
            </a:r>
            <a:r>
              <a:rPr lang="en-US" sz="3450" b="1" i="0" dirty="0" err="1">
                <a:solidFill>
                  <a:srgbClr val="13171B"/>
                </a:solidFill>
                <a:latin typeface="Segoe UI"/>
              </a:rPr>
              <a:t>votre</a:t>
            </a:r>
            <a:r>
              <a:rPr lang="en-US" sz="3450" b="1" i="0" dirty="0">
                <a:solidFill>
                  <a:srgbClr val="13171B"/>
                </a:solidFill>
                <a:latin typeface="Segoe UI"/>
              </a:rPr>
              <a:t> attention !</a:t>
            </a:r>
            <a:endParaRPr sz="3450" b="1" i="0" dirty="0">
              <a:solidFill>
                <a:srgbClr val="13171B"/>
              </a:solidFill>
              <a:latin typeface="Segoe UI"/>
            </a:endParaRPr>
          </a:p>
        </p:txBody>
      </p:sp>
      <p:sp>
        <p:nvSpPr>
          <p:cNvPr id="8" name="Titre guide"/>
          <p:cNvSpPr txBox="1"/>
          <p:nvPr/>
        </p:nvSpPr>
        <p:spPr>
          <a:xfrm>
            <a:off x="685800" y="5372100"/>
            <a:ext cx="1082040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56616A"/>
                </a:solidFill>
                <a:latin typeface="Segoe UI"/>
              </a:rPr>
              <a:t>LES DIX PRINCIPES, À LA SOURCE</a:t>
            </a:r>
          </a:p>
        </p:txBody>
      </p:sp>
      <p:sp>
        <p:nvSpPr>
          <p:cNvPr id="9" name="Lien guide"/>
          <p:cNvSpPr txBox="1"/>
          <p:nvPr/>
        </p:nvSpPr>
        <p:spPr>
          <a:xfrm>
            <a:off x="685800" y="5638800"/>
            <a:ext cx="108204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350" b="0" i="0" dirty="0">
                <a:solidFill>
                  <a:srgbClr val="56616A"/>
                </a:solidFill>
                <a:latin typeface="Segoe UI"/>
                <a:cs typeface="Segoe UI"/>
              </a:rPr>
              <a:t>Commission européenne, DG Traduction, </a:t>
            </a:r>
            <a:r>
              <a:rPr lang="fr-FR" sz="1350" b="1" i="0" dirty="0">
                <a:solidFill>
                  <a:srgbClr val="13171B"/>
                </a:solidFill>
                <a:latin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« Rédiger clairement »</a:t>
            </a:r>
            <a:r>
              <a:rPr lang="fr-FR" sz="1350" b="0" i="0" dirty="0">
                <a:solidFill>
                  <a:srgbClr val="56616A"/>
                </a:solidFill>
                <a:latin typeface="Segoe UI"/>
                <a:cs typeface="Segoe UI"/>
              </a:rPr>
              <a:t>, 2015 — disponible dans les 24 langues officielles.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25" b="0" i="0" dirty="0">
                <a:solidFill>
                  <a:srgbClr val="7446C9"/>
                </a:solidFill>
                <a:latin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https://op.europa.eu/fr/publication-detail/-/publication/725b7eb0-d92e-11e5-8fea-01aa75ed71a1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4604</Words>
  <Application>Microsoft Office PowerPoint</Application>
  <PresentationFormat>Widescreen</PresentationFormat>
  <Paragraphs>495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Analyseur de langage clair</dc:title>
  <dc:subject>Projet de fin de formation · Python / Flask</dc:subject>
  <dc:creator/>
  <cp:keywords/>
  <dc:description>Genere depuis le deck HTML. Les cadres pointilles restent a remplir.</dc:description>
  <cp:lastModifiedBy>michael hubeaux</cp:lastModifiedBy>
  <cp:revision>4</cp:revision>
  <dcterms:created xsi:type="dcterms:W3CDTF">2013-01-27T09:14:16Z</dcterms:created>
  <dcterms:modified xsi:type="dcterms:W3CDTF">2026-09-27T20:30:53Z</dcterms:modified>
  <cp:category/>
</cp:coreProperties>
</file>